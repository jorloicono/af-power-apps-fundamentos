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Guía §6.1.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Guía §6.3.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Guía §6.4.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Límite: una ejecución puede esperar hasta 30 días.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Guía §6.5.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Guía §6.6.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Guía §6.7. Prioriza las partes 1 a 4 y la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Respuesta correcta: B.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Respuesta correcta: B.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jp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E1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49440" y="0"/>
            <a:ext cx="5242255" cy="6858000"/>
          </a:xfrm>
          <a:prstGeom prst="rect">
            <a:avLst/>
          </a:prstGeom>
          <a:solidFill>
            <a:srgbClr val="742774"/>
          </a:solidFill>
          <a:ln/>
        </p:spPr>
      </p:sp>
      <p:sp>
        <p:nvSpPr>
          <p:cNvPr id="3" name="Shape 1"/>
          <p:cNvSpPr/>
          <p:nvPr/>
        </p:nvSpPr>
        <p:spPr>
          <a:xfrm>
            <a:off x="7269480" y="2218065"/>
            <a:ext cx="4572000" cy="2421869"/>
          </a:xfrm>
          <a:prstGeom prst="roundRect">
            <a:avLst>
              <a:gd name="adj" fmla="val 4531"/>
            </a:avLst>
          </a:prstGeom>
          <a:solidFill>
            <a:srgbClr val="FFFFFF"/>
          </a:solidFill>
          <a:ln w="9525">
            <a:solidFill>
              <a:srgbClr val="E6DDE9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Image 0" descr="/home/claude/assets/lab_proceso_vacacion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79208" y="2327793"/>
            <a:ext cx="4352544" cy="220241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91440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141732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D9C6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4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011680"/>
            <a:ext cx="6035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Automatización, aprobaciones y mantenimiento</a:t>
            </a:r>
            <a:endParaRPr lang="en-US" sz="38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4343400"/>
            <a:ext cx="5852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4D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Flujos de Power Automate desde Power Apps, notificaciones, procesos de aprobación, y cómo publicar, compartir y mantener tus soluciones.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598932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horas · 3 demos guiadas · 2 prácticas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DE LA SESIÓN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Cerramos el proceso de principio a fin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7680960"/>
                <a:gridCol w="146304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4277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Bloque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4277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4277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4277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Repaso de la Sesión 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Teoría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0:10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Bloque A · Introducción a Power Automate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Teoría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0:30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D4.1 · Primer flujo desde Power Apps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74277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0:45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P4.1 · Flujo desde Power Apps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9A6B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Práctica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1:35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Descanso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1:50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Bloque B · Aprobaciones en procesos administrativos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Teoría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2:05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D4.2 · Aprobación de extremo a extremo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74277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2:20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Bloque C · Publicación, compartición, permisos y mantenimiento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Teoría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2:40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D4.3 · Publicar, compartir y exportar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74277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2:55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P4.2 · Aprobaciones, publicación y mantenimiento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9A6B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Práctica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3:50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Cierre del curso y evaluación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4 · Automatización, aprobaciones y mantenimiento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REPASO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vimos en la Sesión 3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2560320" cy="3383280"/>
          </a:xfrm>
          <a:prstGeom prst="roundRect">
            <a:avLst>
              <a:gd name="adj" fmla="val 4286"/>
            </a:avLst>
          </a:prstGeom>
          <a:solidFill>
            <a:srgbClr val="F7F3F8"/>
          </a:solidFill>
          <a:ln w="9525">
            <a:solidFill>
              <a:srgbClr val="E6DDE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423160"/>
            <a:ext cx="566928" cy="566928"/>
          </a:xfrm>
          <a:prstGeom prst="ellipse">
            <a:avLst/>
          </a:prstGeom>
          <a:solidFill>
            <a:srgbClr val="74277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4231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1089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Componentes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7947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Cabecera reutilizable con propiedades de entrada y de comportamiento.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3383280" y="2148840"/>
            <a:ext cx="2560320" cy="3383280"/>
          </a:xfrm>
          <a:prstGeom prst="roundRect">
            <a:avLst>
              <a:gd name="adj" fmla="val 4286"/>
            </a:avLst>
          </a:prstGeom>
          <a:solidFill>
            <a:srgbClr val="F7F3F8"/>
          </a:solidFill>
          <a:ln w="9525">
            <a:solidFill>
              <a:srgbClr val="E6DDE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0" y="2423160"/>
            <a:ext cx="566928" cy="566928"/>
          </a:xfrm>
          <a:prstGeom prst="ellipse">
            <a:avLst/>
          </a:prstGeom>
          <a:solidFill>
            <a:srgbClr val="74277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57600" y="24231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3657600" y="31089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Validación y errores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657600" y="37947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Mensajes por campo, IfError, Notify y Monitor.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217920" y="2148840"/>
            <a:ext cx="2560320" cy="3383280"/>
          </a:xfrm>
          <a:prstGeom prst="roundRect">
            <a:avLst>
              <a:gd name="adj" fmla="val 4286"/>
            </a:avLst>
          </a:prstGeom>
          <a:solidFill>
            <a:srgbClr val="F7F3F8"/>
          </a:solidFill>
          <a:ln w="9525">
            <a:solidFill>
              <a:srgbClr val="E6DDE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92240" y="2423160"/>
            <a:ext cx="566928" cy="566928"/>
          </a:xfrm>
          <a:prstGeom prst="ellipse">
            <a:avLst/>
          </a:prstGeom>
          <a:solidFill>
            <a:srgbClr val="74277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92240" y="24231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6492240" y="31089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Microsoft 365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492240" y="37947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 y responsable del directorio, correo y publicación en Teams.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9052560" y="2148840"/>
            <a:ext cx="2560320" cy="3383280"/>
          </a:xfrm>
          <a:prstGeom prst="roundRect">
            <a:avLst>
              <a:gd name="adj" fmla="val 4286"/>
            </a:avLst>
          </a:prstGeom>
          <a:solidFill>
            <a:srgbClr val="F7F3F8"/>
          </a:solidFill>
          <a:ln w="9525">
            <a:solidFill>
              <a:srgbClr val="E6DDE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326880" y="2423160"/>
            <a:ext cx="566928" cy="566928"/>
          </a:xfrm>
          <a:prstGeom prst="ellipse">
            <a:avLst/>
          </a:prstGeom>
          <a:solidFill>
            <a:srgbClr val="74277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326880" y="24231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9326880" y="31089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Power BI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9326880" y="37947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Icono en la app y app dentro del informe.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4 · Automatización, aprobaciones y mantenimiento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E1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737360"/>
            <a:ext cx="2377440" cy="2377440"/>
          </a:xfrm>
          <a:prstGeom prst="ellipse">
            <a:avLst/>
          </a:prstGeom>
          <a:solidFill>
            <a:srgbClr val="742774"/>
          </a:solidFill>
          <a:ln w="25400">
            <a:solidFill>
              <a:srgbClr val="B98BC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1737360"/>
            <a:ext cx="2377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9600" dirty="0"/>
          </a:p>
        </p:txBody>
      </p:sp>
      <p:sp>
        <p:nvSpPr>
          <p:cNvPr id="4" name="Text 2"/>
          <p:cNvSpPr txBox="1"/>
          <p:nvPr/>
        </p:nvSpPr>
        <p:spPr>
          <a:xfrm>
            <a:off x="3657600" y="1645920"/>
            <a:ext cx="7863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Introducción a Power Automate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3657600" y="3108960"/>
            <a:ext cx="76809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E4D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automatiza y qué tipos de flujo existen</a:t>
            </a:r>
            <a:endParaRPr lang="en-US" sz="17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E4D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Desencadenadores, acciones y contenido dinámico</a:t>
            </a:r>
            <a:endParaRPr lang="en-US" sz="17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E4D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Flujos desde Power Apps: Power Apps (V2) y Run</a:t>
            </a:r>
            <a:endParaRPr lang="en-US" sz="17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E4D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Automatizar notificaciones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DB8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4 · Automatización, aprobaciones y mantenimiento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DB8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AUTOMATE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 el sistema haga lo repetitivo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722376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Notificaciones y recordatorios: </a:t>
            </a: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correo, Teams, móvil.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Mover y sincronizar datos: </a:t>
            </a: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SharePoint, Excel, Outlook y cientos de servicios.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Aprobaciones: </a:t>
            </a: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vacaciones, compras, documentos.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Automatización de escritorio (RPA): </a:t>
            </a: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aplicaciones sin API.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IA: </a:t>
            </a: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Builder y Copilot para describir el flujo.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138160" y="2148840"/>
            <a:ext cx="3474720" cy="347472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9525">
            <a:solidFill>
              <a:srgbClr val="E6DDE9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6" name="Image 0" descr="/home/claude/assets/power_automa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47888" y="2258568"/>
            <a:ext cx="3255264" cy="32552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4 · Automatización, aprobaciones y mantenimiento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TIPOS DE FLUJO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¿Qué pone en marcha el flujo?</a:t>
            </a:r>
            <a:endParaRPr lang="en-US" sz="3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023360"/>
                <a:gridCol w="4663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4277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ejecuta…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4277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Ejemplo del curso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4277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E1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Automatizado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Cuando ocurre un evento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 crear una solicitud en SharePoint, pedir aprobación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E1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Instantáneo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 pulsar un botón (app, Teams, móvil)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Desde Power Apps, notificar al responsable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E1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Programado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una hora o con una frecuencia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Cada lunes, recordar solicitudes pendientes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E1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 escritorio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 un PC, imitando al usuario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Copiar datos a una aplicación antigua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4 · Automatización, aprobaciones y mantenimiento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ANATOMÍA DE UN FLUJO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Desencadenador, acciones y contenido dinámico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649224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Desencadenador: </a:t>
            </a: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evento que inicia el flujo. Solo uno por flujo.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Acciones: </a:t>
            </a: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pasos que se ejecutan en orden.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Contenido dinámico: </a:t>
            </a: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de pasos anteriores que se reutilizan.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Expresiones: </a:t>
            </a: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funciones como formatDateTime o concat.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Control: </a:t>
            </a: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condiciones, bucles, paralelismo y tiempo de espera.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406640" y="1544403"/>
            <a:ext cx="4206240" cy="4683593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E6DDE9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6" name="Image 0" descr="/home/claude/assets/desencadenador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1654131"/>
            <a:ext cx="3986784" cy="446413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4 · Automatización, aprobaciones y mantenimiento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APPS + POWER AUTOMATE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app pasa datos, el flujo trabaja y responde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6492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Desencadenador Power Apps (V2): </a:t>
            </a:r>
            <a:r>
              <a:rPr lang="en-US" sz="15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entradas con nombre y tipo.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Run: </a:t>
            </a:r>
            <a:r>
              <a:rPr lang="en-US" sz="15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app llama al flujo con los parámetros en orden.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Responder a Power Apps: </a:t>
            </a:r>
            <a:r>
              <a:rPr lang="en-US" sz="15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flujo devuelve valores a la app.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3017520"/>
            <a:ext cx="6492240" cy="2286000"/>
          </a:xfrm>
          <a:prstGeom prst="roundRect">
            <a:avLst>
              <a:gd name="adj" fmla="val 3200"/>
            </a:avLst>
          </a:prstGeom>
          <a:solidFill>
            <a:srgbClr val="1F1A24"/>
          </a:solidFill>
          <a:ln w="12700">
            <a:solidFill>
              <a:srgbClr val="1F1A2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3108960"/>
            <a:ext cx="61264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3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Set(gblResp;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NotificarSolicitud.Run(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Self.LastSubmit.ID;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Self.LastSubmit.Title;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User().Email))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Notify(gblResp.resultado)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406640" y="2398873"/>
            <a:ext cx="4206240" cy="2974654"/>
          </a:xfrm>
          <a:prstGeom prst="roundRect">
            <a:avLst>
              <a:gd name="adj" fmla="val 3689"/>
            </a:avLst>
          </a:prstGeom>
          <a:solidFill>
            <a:srgbClr val="FFFFFF"/>
          </a:solidFill>
          <a:ln w="9525">
            <a:solidFill>
              <a:srgbClr val="E6DDE9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8" name="Image 0" descr="/home/claude/assets/lab_panel_p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2508601"/>
            <a:ext cx="3986784" cy="275519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4 · Automatización, aprobaciones y mantenimiento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74277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D4.1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601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Primer flujo desde Power Apps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002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minutos · Power Apps Studio y diseñador de Power Automate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03120"/>
            <a:ext cx="65836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Power Automate &gt; Crear un flujo nuevo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Apps (V2) con entradas Motivo y EmailAprobador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Publicar un mensaje en Teams como bot de flujo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Responder a Power Apps con una salida de texto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Botón en la app con Run y Notify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Probar y revisar el historial de ejecuciones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7498080" y="3040455"/>
            <a:ext cx="4114800" cy="2240129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9525">
            <a:solidFill>
              <a:srgbClr val="E6DDE9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8" name="Image 0" descr="/home/claude/assets/flujo_pas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07808" y="3150183"/>
            <a:ext cx="3895344" cy="2020673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4 · Automatización, aprobaciones y mantenimiento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8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F2A9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PRÁCTICA P4.1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601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Lanzar un flujo de Power Automate desde Power Apps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002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A6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minutos · Guía: SESION_4/PRACTICAS/P4.1 · Sobre la app de solicitudes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03120"/>
            <a:ext cx="63093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 el flujo desde Power Apps Studio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Siete entradas en Power Apps (V2)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Aviso al responsable por Teams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Confirmación al empleado por correo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Devolver un resultado a la app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Llamar al flujo en OnSuccess y revisar el historial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7223760" y="2103120"/>
            <a:ext cx="4389120" cy="402336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9525">
            <a:solidFill>
              <a:srgbClr val="E6DDE9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452360" y="228600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A6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Atención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452360" y="2743200"/>
            <a:ext cx="39319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Guardar el flujo antes de volver a Studio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 del flujo con el autocompletado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Fechas con formatDateTime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4 · Automatización, aprobaciones y mantenimiento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74277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1645920"/>
            <a:ext cx="10332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Descanso · 15 minutos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4206240"/>
            <a:ext cx="10058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A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 vuelta: el responsable aprueba o rechaza desde Teams y la app se entera.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DB8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4 · Automatización, aprobaciones y mantenimiento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DB8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E1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737360"/>
            <a:ext cx="2377440" cy="2377440"/>
          </a:xfrm>
          <a:prstGeom prst="ellipse">
            <a:avLst/>
          </a:prstGeom>
          <a:solidFill>
            <a:srgbClr val="742774"/>
          </a:solidFill>
          <a:ln w="25400">
            <a:solidFill>
              <a:srgbClr val="B98BC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1737360"/>
            <a:ext cx="2377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9600" dirty="0"/>
          </a:p>
        </p:txBody>
      </p:sp>
      <p:sp>
        <p:nvSpPr>
          <p:cNvPr id="4" name="Text 2"/>
          <p:cNvSpPr txBox="1"/>
          <p:nvPr/>
        </p:nvSpPr>
        <p:spPr>
          <a:xfrm>
            <a:off x="3657600" y="1645920"/>
            <a:ext cx="7863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Aprobaciones en procesos administrativos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3657600" y="3108960"/>
            <a:ext cx="76809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E4D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las aprobaciones encajan en Power Automate</a:t>
            </a:r>
            <a:endParaRPr lang="en-US" sz="17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E4D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Tipos de aprobación</a:t>
            </a:r>
            <a:endParaRPr lang="en-US" sz="17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E4D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Responder, reasignar y hacer seguimiento</a:t>
            </a:r>
            <a:endParaRPr lang="en-US" sz="17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E4D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Diseñar el proceso completo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DB8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4 · Automatización, aprobaciones y mantenimiento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DB8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APROBACIONES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Procesos bien definidos que siguen siendo manuales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557784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empleado crea la solicitud: </a:t>
            </a: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la app.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flujo la evalúa y la enruta: </a:t>
            </a: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responsable, según reglas.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responsable decide: </a:t>
            </a: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desde Teams, Outlook o el móvil.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flujo actualiza los datos y avisa: </a:t>
            </a: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queda registrado.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92240" y="2539969"/>
            <a:ext cx="5120640" cy="2692462"/>
          </a:xfrm>
          <a:prstGeom prst="roundRect">
            <a:avLst>
              <a:gd name="adj" fmla="val 4075"/>
            </a:avLst>
          </a:prstGeom>
          <a:solidFill>
            <a:srgbClr val="FFFFFF"/>
          </a:solidFill>
          <a:ln w="9525">
            <a:solidFill>
              <a:srgbClr val="E6DDE9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6" name="Image 0" descr="/home/claude/assets/flujo_aprobac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01968" y="2649697"/>
            <a:ext cx="4901184" cy="247300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4 · Automatización, aprobaciones y mantenimiento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TIPOS DE APROBACIÓN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Elige cómo se decide</a:t>
            </a:r>
            <a:endParaRPr lang="en-US" sz="3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3749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4277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Cómo funciona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4277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Cuándo usarlo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4277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E1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Primero en responder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Termina con la primera respuesta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responsable o un equipo que se reparte el trabajo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E1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Todos deben aprobar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Espera la respuesta de todos los asignados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Comités y decisiones conjuntas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E1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Respuestas personalizadas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Opciones propias además de aprobar o rechazar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«Necesito más información»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E1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Secuencial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aprobación tras otra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Responsable y después RR. HH. si supera 10 días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4 · Automatización, aprobaciones y mantenimiento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EXPERIENCIA DEL APROBADOR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Esperar, responder y reasignar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161605"/>
            <a:ext cx="3505200" cy="3129150"/>
          </a:xfrm>
          <a:prstGeom prst="roundRect">
            <a:avLst>
              <a:gd name="adj" fmla="val 3507"/>
            </a:avLst>
          </a:prstGeom>
          <a:solidFill>
            <a:srgbClr val="FFFFFF"/>
          </a:solidFill>
          <a:ln w="9525">
            <a:solidFill>
              <a:srgbClr val="E6DDE9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5" name="Image 0" descr="/home/claude/assets/esperar_aprobac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2234757"/>
            <a:ext cx="3358896" cy="298284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5961888"/>
            <a:ext cx="350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Esperar la aprobación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4328160" y="2913679"/>
            <a:ext cx="3505200" cy="1625002"/>
          </a:xfrm>
          <a:prstGeom prst="roundRect">
            <a:avLst>
              <a:gd name="adj" fmla="val 6752"/>
            </a:avLst>
          </a:prstGeom>
          <a:solidFill>
            <a:srgbClr val="FFFFFF"/>
          </a:solidFill>
          <a:ln w="9525">
            <a:solidFill>
              <a:srgbClr val="E6DDE9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8" name="Image 1" descr="/home/claude/assets/responder_aprobacio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1312" y="2986831"/>
            <a:ext cx="3358896" cy="147869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328160" y="5961888"/>
            <a:ext cx="350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Responder en Outlook o Teams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8107680" y="3043628"/>
            <a:ext cx="3505200" cy="1365103"/>
          </a:xfrm>
          <a:prstGeom prst="roundRect">
            <a:avLst>
              <a:gd name="adj" fmla="val 8038"/>
            </a:avLst>
          </a:prstGeom>
          <a:solidFill>
            <a:srgbClr val="FFFFFF"/>
          </a:solidFill>
          <a:ln w="9525">
            <a:solidFill>
              <a:srgbClr val="E6DDE9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11" name="Image 2" descr="/home/claude/assets/reasigna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0832" y="3116780"/>
            <a:ext cx="3358896" cy="121879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107680" y="5961888"/>
            <a:ext cx="350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Reasignar a otra persona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4 · Automatización, aprobaciones y mantenimiento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NUESTRO PROCESO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Solicitud de vacaciones de extremo a extremo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649224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SharePoint: </a:t>
            </a: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Cuando se crea un elemento con estado Pendiente.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Aprobaciones: </a:t>
            </a: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Iniciar y esperar, asignada al aprobador.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Condición: </a:t>
            </a: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= Approve (en inglés).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SharePoint: </a:t>
            </a: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Actualizar elemento con estado y comentarios.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Outlook: </a:t>
            </a: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correo al empleado con la decisión.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406640" y="2767804"/>
            <a:ext cx="4206240" cy="2236793"/>
          </a:xfrm>
          <a:prstGeom prst="roundRect">
            <a:avLst>
              <a:gd name="adj" fmla="val 4906"/>
            </a:avLst>
          </a:prstGeom>
          <a:solidFill>
            <a:srgbClr val="FFFFFF"/>
          </a:solidFill>
          <a:ln w="9525">
            <a:solidFill>
              <a:srgbClr val="E6DDE9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6" name="Image 0" descr="/home/claude/assets/lab_proceso_vacacion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2877532"/>
            <a:ext cx="3986784" cy="201733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4 · Automatización, aprobaciones y mantenimiento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74277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D4.2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601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Aprobación de extremo a extremo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002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minutos · Power Automate, Teams y la app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03120"/>
            <a:ext cx="65836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Flujo automatizado Cuando se crea un elemento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Condición de desencadenador sobre el estado Pendiente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Iniciar y esperar una aprobación con Markdown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Condición Resultado = Approve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Actualizar elemento y correo en cada rama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 una solicitud desde la app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Aprobar en Teams y ver el estado en la app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7498080" y="2166978"/>
            <a:ext cx="4114800" cy="3987084"/>
          </a:xfrm>
          <a:prstGeom prst="roundRect">
            <a:avLst>
              <a:gd name="adj" fmla="val 2752"/>
            </a:avLst>
          </a:prstGeom>
          <a:solidFill>
            <a:srgbClr val="FFFFFF"/>
          </a:solidFill>
          <a:ln w="9525">
            <a:solidFill>
              <a:srgbClr val="E6DDE9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8" name="Image 0" descr="/home/claude/assets/lab_iniciar_aprobac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07808" y="2276706"/>
            <a:ext cx="3895344" cy="376762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4 · Automatización, aprobaciones y mantenimiento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2E1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737360"/>
            <a:ext cx="2377440" cy="2377440"/>
          </a:xfrm>
          <a:prstGeom prst="ellipse">
            <a:avLst/>
          </a:prstGeom>
          <a:solidFill>
            <a:srgbClr val="742774"/>
          </a:solidFill>
          <a:ln w="25400">
            <a:solidFill>
              <a:srgbClr val="B98BC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1737360"/>
            <a:ext cx="2377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9600" dirty="0"/>
          </a:p>
        </p:txBody>
      </p:sp>
      <p:sp>
        <p:nvSpPr>
          <p:cNvPr id="4" name="Text 2"/>
          <p:cNvSpPr txBox="1"/>
          <p:nvPr/>
        </p:nvSpPr>
        <p:spPr>
          <a:xfrm>
            <a:off x="3657600" y="1645920"/>
            <a:ext cx="7863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Publicación, compartición, permisos y mantenimiento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3657600" y="3108960"/>
            <a:ext cx="76809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E4D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Guardar, publicar, versiones y restaurar</a:t>
            </a:r>
            <a:endParaRPr lang="en-US" sz="17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E4D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Compartir y los permisos sobre los datos</a:t>
            </a:r>
            <a:endParaRPr lang="en-US" sz="17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E4D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Soluciones, referencias de conexión y variables de entorno</a:t>
            </a:r>
            <a:endParaRPr lang="en-US" sz="17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E4D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Gobierno y evolución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DB8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4 · Automatización, aprobaciones y mantenimiento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DB8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CICLO DE VIDA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la edición al usuario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2560320" cy="3383280"/>
          </a:xfrm>
          <a:prstGeom prst="roundRect">
            <a:avLst>
              <a:gd name="adj" fmla="val 4286"/>
            </a:avLst>
          </a:prstGeom>
          <a:solidFill>
            <a:srgbClr val="F7F3F8"/>
          </a:solidFill>
          <a:ln w="9525">
            <a:solidFill>
              <a:srgbClr val="E6DDE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423160"/>
            <a:ext cx="566928" cy="566928"/>
          </a:xfrm>
          <a:prstGeom prst="ellipse">
            <a:avLst/>
          </a:prstGeom>
          <a:solidFill>
            <a:srgbClr val="74277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4231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1089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Guardar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7947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 una versión nueva. Solo la ven los editores.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3383280" y="2148840"/>
            <a:ext cx="2560320" cy="3383280"/>
          </a:xfrm>
          <a:prstGeom prst="roundRect">
            <a:avLst>
              <a:gd name="adj" fmla="val 4286"/>
            </a:avLst>
          </a:prstGeom>
          <a:solidFill>
            <a:srgbClr val="F7F3F8"/>
          </a:solidFill>
          <a:ln w="9525">
            <a:solidFill>
              <a:srgbClr val="E6DDE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0" y="2423160"/>
            <a:ext cx="566928" cy="566928"/>
          </a:xfrm>
          <a:prstGeom prst="ellipse">
            <a:avLst/>
          </a:prstGeom>
          <a:solidFill>
            <a:srgbClr val="74277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57600" y="24231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3657600" y="31089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Publicar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657600" y="37947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Hace visible esa versión a todos los usuarios de la app.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217920" y="2148840"/>
            <a:ext cx="2560320" cy="3383280"/>
          </a:xfrm>
          <a:prstGeom prst="roundRect">
            <a:avLst>
              <a:gd name="adj" fmla="val 4286"/>
            </a:avLst>
          </a:prstGeom>
          <a:solidFill>
            <a:srgbClr val="F7F3F8"/>
          </a:solidFill>
          <a:ln w="9525">
            <a:solidFill>
              <a:srgbClr val="E6DDE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92240" y="2423160"/>
            <a:ext cx="566928" cy="566928"/>
          </a:xfrm>
          <a:prstGeom prst="ellipse">
            <a:avLst/>
          </a:prstGeom>
          <a:solidFill>
            <a:srgbClr val="74277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92240" y="24231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6492240" y="31089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Versiones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492240" y="37947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Historial completo en Detalles &gt; Versiones.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9052560" y="2148840"/>
            <a:ext cx="2560320" cy="3383280"/>
          </a:xfrm>
          <a:prstGeom prst="roundRect">
            <a:avLst>
              <a:gd name="adj" fmla="val 4286"/>
            </a:avLst>
          </a:prstGeom>
          <a:solidFill>
            <a:srgbClr val="F7F3F8"/>
          </a:solidFill>
          <a:ln w="9525">
            <a:solidFill>
              <a:srgbClr val="E6DDE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326880" y="2423160"/>
            <a:ext cx="566928" cy="566928"/>
          </a:xfrm>
          <a:prstGeom prst="ellipse">
            <a:avLst/>
          </a:prstGeom>
          <a:solidFill>
            <a:srgbClr val="74277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326880" y="24231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9326880" y="31089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Restaurar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9326880" y="37947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Vuelve a una versión anterior si algo falla.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4 · Automatización, aprobaciones y mantenimiento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COMPARTIR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Roles de la app y permisos de los datos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Compartir la app no da acceso a los datos. Filtrar la galería mejora la experiencia, pero no es seguridad.</a:t>
            </a:r>
            <a:endParaRPr lang="en-US" sz="15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1168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321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Quién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4277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Qué puede hacer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4277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E1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Usuario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Ejecutar la app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E1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Copropietario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Editar, compartir y publicar; no eliminar ni cambiar el propietario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E1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Propietario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Todo, incluido eliminar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E1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Grupo de seguridad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 recomendada de compartir: altas y bajas en un solo sitio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E1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Datos (SharePoint)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Aparte: el usuario necesita permiso en el sitio o la lista para leer y escribir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4 · Automatización, aprobaciones y mantenimiento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MANTENIMIENTO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Preparar la app para crecer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2560320" cy="3383280"/>
          </a:xfrm>
          <a:prstGeom prst="roundRect">
            <a:avLst>
              <a:gd name="adj" fmla="val 4286"/>
            </a:avLst>
          </a:prstGeom>
          <a:solidFill>
            <a:srgbClr val="F7F3F8"/>
          </a:solidFill>
          <a:ln w="9525">
            <a:solidFill>
              <a:srgbClr val="E6DDE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423160"/>
            <a:ext cx="566928" cy="566928"/>
          </a:xfrm>
          <a:prstGeom prst="ellipse">
            <a:avLst/>
          </a:prstGeom>
          <a:solidFill>
            <a:srgbClr val="74277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4231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1089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Soluciones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7947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Empaquetan app, flujos y referencias de conexión. Se exportan administradas a producción.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3383280" y="2148840"/>
            <a:ext cx="2560320" cy="3383280"/>
          </a:xfrm>
          <a:prstGeom prst="roundRect">
            <a:avLst>
              <a:gd name="adj" fmla="val 4286"/>
            </a:avLst>
          </a:prstGeom>
          <a:solidFill>
            <a:srgbClr val="F7F3F8"/>
          </a:solidFill>
          <a:ln w="9525">
            <a:solidFill>
              <a:srgbClr val="E6DDE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0" y="2423160"/>
            <a:ext cx="566928" cy="566928"/>
          </a:xfrm>
          <a:prstGeom prst="ellipse">
            <a:avLst/>
          </a:prstGeom>
          <a:solidFill>
            <a:srgbClr val="74277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57600" y="24231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3657600" y="31089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Variables de entorno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657600" y="37947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sitio y la lista de SharePoint cambian por entorno sin tocar la app.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217920" y="2148840"/>
            <a:ext cx="2560320" cy="3383280"/>
          </a:xfrm>
          <a:prstGeom prst="roundRect">
            <a:avLst>
              <a:gd name="adj" fmla="val 4286"/>
            </a:avLst>
          </a:prstGeom>
          <a:solidFill>
            <a:srgbClr val="F7F3F8"/>
          </a:solidFill>
          <a:ln w="9525">
            <a:solidFill>
              <a:srgbClr val="E6DDE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92240" y="2423160"/>
            <a:ext cx="566928" cy="566928"/>
          </a:xfrm>
          <a:prstGeom prst="ellipse">
            <a:avLst/>
          </a:prstGeom>
          <a:solidFill>
            <a:srgbClr val="74277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92240" y="24231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6492240" y="31089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Gobierno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492240" y="37947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Entornos, directivas DLP, entornos administrados y análisis de uso.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9052560" y="2148840"/>
            <a:ext cx="2560320" cy="3383280"/>
          </a:xfrm>
          <a:prstGeom prst="roundRect">
            <a:avLst>
              <a:gd name="adj" fmla="val 4286"/>
            </a:avLst>
          </a:prstGeom>
          <a:solidFill>
            <a:srgbClr val="F7F3F8"/>
          </a:solidFill>
          <a:ln w="9525">
            <a:solidFill>
              <a:srgbClr val="E6DDE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326880" y="2423160"/>
            <a:ext cx="566928" cy="566928"/>
          </a:xfrm>
          <a:prstGeom prst="ellipse">
            <a:avLst/>
          </a:prstGeom>
          <a:solidFill>
            <a:srgbClr val="74277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326880" y="24231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9326880" y="31089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Evolución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9326880" y="37947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Copropietarios en apps y flujos, versiones pequeñas y comentarios de los usuarios.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4 · Automatización, aprobaciones y mantenimiento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CENTRO DE ADMINISTRACIÓN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se gobierna Power Platform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612648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Entornos: </a:t>
            </a: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desarrollo, prueba y producción.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Directivas de datos (DLP): </a:t>
            </a: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conectores pueden combinarse.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Análisis: </a:t>
            </a: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de apps y flujos.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Entornos administrados: </a:t>
            </a: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límites de compartición y más control.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Canalizaciones: </a:t>
            </a: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mover soluciones entre entornos.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040880" y="2981007"/>
            <a:ext cx="4572000" cy="1810386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E6DDE9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6" name="Image 0" descr="/home/claude/assets/entorn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50608" y="3090735"/>
            <a:ext cx="4352544" cy="159093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4 · Automatización, aprobaciones y mantenimiento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74277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D4.3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601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Publicar, compartir y exportar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002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minutos · portal de Power Apps, SharePoint y Centro de administración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03120"/>
            <a:ext cx="63093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Versiones de la app y restaurar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Compartir con un usuario, un copropietario y un grupo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Permisos de la lista y acceso a nivel de elemento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Exportar la solución como administrada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 una variable de entorno de SharePoint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Entornos, DLP y análisis en el Centro de administración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7223760" y="2103120"/>
            <a:ext cx="4389120" cy="402336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9525">
            <a:solidFill>
              <a:srgbClr val="E6DDE9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452360" y="228600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4277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Mensaje clave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452360" y="2743200"/>
            <a:ext cx="39319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Compartir la app ≠ compartir los datos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Soluciones para mover entre entornos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Siempre un copropietario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4 · Automatización, aprobaciones y mantenimiento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8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F2A9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PRÁCTICA P4.2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601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Proceso de aprobación, publicación y mantenimiento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002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A6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 minutos · Guía: SESION_4/PRACTICAS/P4.2 · Cierre del caso integrador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03120"/>
            <a:ext cx="65836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Flujo automatizado de aprobación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Condición de desencadenador y aprobador dinámico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Actualizar estado y avisar al empleado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Probar por parejas: aprueba las solicitudes de tu compañero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Versiones, compartir y permisos en SharePoint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Exportar la solución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7498080" y="3086023"/>
            <a:ext cx="4114800" cy="2148993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9525">
            <a:solidFill>
              <a:srgbClr val="E6DDE9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8" name="Image 0" descr="/home/claude/assets/lab_condicion_appro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07808" y="3195751"/>
            <a:ext cx="3895344" cy="1929537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4 · Automatización, aprobaciones y mantenimiento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COMPRUEBA LO APRENDIDO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aprobación siempre sigue la rama de rechazo. ¿Qué revisas primero?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574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7F3F8"/>
          </a:solidFill>
          <a:ln w="9525">
            <a:solidFill>
              <a:srgbClr val="E6DDE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2185416"/>
            <a:ext cx="521208" cy="521208"/>
          </a:xfrm>
          <a:prstGeom prst="ellipse">
            <a:avLst/>
          </a:prstGeom>
          <a:solidFill>
            <a:srgbClr val="74277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2185416"/>
            <a:ext cx="52120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574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el flujo esté activado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2971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7F3F8"/>
          </a:solidFill>
          <a:ln w="9525">
            <a:solidFill>
              <a:srgbClr val="E6DDE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3099816"/>
            <a:ext cx="521208" cy="521208"/>
          </a:xfrm>
          <a:prstGeom prst="ellipse">
            <a:avLst/>
          </a:prstGeom>
          <a:solidFill>
            <a:srgbClr val="74277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31520" y="3099816"/>
            <a:ext cx="52120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29718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la condición compare con Approve y no con «Aprobar»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3886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7F3F8"/>
          </a:solidFill>
          <a:ln w="9525">
            <a:solidFill>
              <a:srgbClr val="E6DDE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1520" y="4014216"/>
            <a:ext cx="521208" cy="521208"/>
          </a:xfrm>
          <a:prstGeom prst="ellipse">
            <a:avLst/>
          </a:prstGeom>
          <a:solidFill>
            <a:srgbClr val="74277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31520" y="4014216"/>
            <a:ext cx="52120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38862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licencia del aprobador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0" y="4800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7F3F8"/>
          </a:solidFill>
          <a:ln w="9525">
            <a:solidFill>
              <a:srgbClr val="E6DDE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31520" y="4928616"/>
            <a:ext cx="521208" cy="521208"/>
          </a:xfrm>
          <a:prstGeom prst="ellipse">
            <a:avLst/>
          </a:prstGeom>
          <a:solidFill>
            <a:srgbClr val="74277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31520" y="4928616"/>
            <a:ext cx="52120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463040" y="48006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formato de las fechas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4 · Automatización, aprobaciones y mantenimiento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COMPRUEBA LO APRENDIDO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Has compartido la app, pero tu compañero no ve datos. ¿Por qué?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574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7F3F8"/>
          </a:solidFill>
          <a:ln w="9525">
            <a:solidFill>
              <a:srgbClr val="E6DDE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2185416"/>
            <a:ext cx="521208" cy="521208"/>
          </a:xfrm>
          <a:prstGeom prst="ellipse">
            <a:avLst/>
          </a:prstGeom>
          <a:solidFill>
            <a:srgbClr val="74277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2185416"/>
            <a:ext cx="52120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574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has publicado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2971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7F3F8"/>
          </a:solidFill>
          <a:ln w="9525">
            <a:solidFill>
              <a:srgbClr val="E6DDE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3099816"/>
            <a:ext cx="521208" cy="521208"/>
          </a:xfrm>
          <a:prstGeom prst="ellipse">
            <a:avLst/>
          </a:prstGeom>
          <a:solidFill>
            <a:srgbClr val="74277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31520" y="3099816"/>
            <a:ext cx="52120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29718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falta permiso en la lista de SharePoint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3886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7F3F8"/>
          </a:solidFill>
          <a:ln w="9525">
            <a:solidFill>
              <a:srgbClr val="E6DDE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1520" y="4014216"/>
            <a:ext cx="521208" cy="521208"/>
          </a:xfrm>
          <a:prstGeom prst="ellipse">
            <a:avLst/>
          </a:prstGeom>
          <a:solidFill>
            <a:srgbClr val="74277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31520" y="4014216"/>
            <a:ext cx="52120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38862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Tiene el navegador en inglés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0" y="4800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7F3F8"/>
          </a:solidFill>
          <a:ln w="9525">
            <a:solidFill>
              <a:srgbClr val="E6DDE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31520" y="4928616"/>
            <a:ext cx="521208" cy="521208"/>
          </a:xfrm>
          <a:prstGeom prst="ellipse">
            <a:avLst/>
          </a:prstGeom>
          <a:solidFill>
            <a:srgbClr val="74277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31520" y="4928616"/>
            <a:ext cx="52120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463040" y="48006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Debe ser copropietario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4 · Automatización, aprobaciones y mantenimiento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2E1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144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 Excel compartido a un proceso automatizado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640080" cy="640080"/>
          </a:xfrm>
          <a:prstGeom prst="ellipse">
            <a:avLst/>
          </a:prstGeom>
          <a:solidFill>
            <a:srgbClr val="742774"/>
          </a:solidFill>
          <a:ln w="19050">
            <a:solidFill>
              <a:srgbClr val="B98BC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2011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96596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F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Apps para capturar y consultar; SharePoint como repositorio; Power Automate para notificar y aprobar.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40080" y="2971800"/>
            <a:ext cx="640080" cy="640080"/>
          </a:xfrm>
          <a:prstGeom prst="ellipse">
            <a:avLst/>
          </a:prstGeom>
          <a:solidFill>
            <a:srgbClr val="742774"/>
          </a:solidFill>
          <a:ln w="19050">
            <a:solidFill>
              <a:srgbClr val="B98BC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2971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92608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F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 con versiones, comparte con grupos y da permisos sobre los datos.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40080" y="3931920"/>
            <a:ext cx="640080" cy="640080"/>
          </a:xfrm>
          <a:prstGeom prst="ellipse">
            <a:avLst/>
          </a:prstGeom>
          <a:solidFill>
            <a:srgbClr val="742774"/>
          </a:solidFill>
          <a:ln w="19050">
            <a:solidFill>
              <a:srgbClr val="B98BC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931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388620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F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Soluciones y variables de entorno para llevarlo a producción y mantenerlo.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40080" y="5257800"/>
            <a:ext cx="10881360" cy="822960"/>
          </a:xfrm>
          <a:prstGeom prst="roundRect">
            <a:avLst>
              <a:gd name="adj" fmla="val 13333"/>
            </a:avLst>
          </a:prstGeom>
          <a:solidFill>
            <a:srgbClr val="74277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68680" y="52578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sesión  </a:t>
            </a: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certificación PL-900, Dataverse y apps basadas en modelo, y Power Automate avanzado.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DB8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4 · Automatización, aprobaciones y mantenimiento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DB8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Curso Power Apps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Sesión 4 · Automatización, aprobaciones y mantenimiento</dc:title>
  <dc:subject>PptxGenJS Presentation</dc:subject>
  <dc:creator>Jorge</dc:creator>
  <cp:lastModifiedBy>Jorge</cp:lastModifiedBy>
  <cp:revision>1</cp:revision>
  <dcterms:created xsi:type="dcterms:W3CDTF">2026-09-22T06:35:24Z</dcterms:created>
  <dcterms:modified xsi:type="dcterms:W3CDTF">2026-09-22T06:35:24Z</dcterms:modified>
</cp:coreProperties>
</file>