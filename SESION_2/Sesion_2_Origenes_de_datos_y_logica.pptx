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84" r:id="rId35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  <Relationship Id="rId35" Type="http://schemas.openxmlformats.org/officeDocument/2006/relationships/slide" Target="slides/slide29.xml"/>
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Guía §4.1.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Pregunta rápida a dos alumnos antes de pasar al bloque 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Mensaje: Excel para prototipos; SharePoint para apps departamentales; Dataverse cuando crece.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Recalca el .Value de elección y el nombre interno: crea las columnas sin espacios ni tildes.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Guía §4.3. Mensaje: perfecto para prototipos; en la práctica lo haremos a mano.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Guía §4.4.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Guía §4.5.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Subir el límite a 2.000 no es la solución: es un parche.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Guía §4.6.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Guía §4.7.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Respuesta correcta: A. Guardar la fecha como texto aaaa-mm-dd es lo que permite ordenar con SortByColumns; DateValue sirve para mostrarla, no para ordenar el origen.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Respuesta correcta: C.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Respuestas. 1) Guardar crea una versión nueva pero no la reparte: hay que publicar, y los usuarios verán la versión publicada. 2) Back() vuelve a la pantalla anterior e invierte automáticamente la transición con la que llegaste; Navigate exige indicar la pantalla destino. Preguntar a dos alumnos distintos y no alargarlo más de cinco minutos.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E14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949440" y="0"/>
            <a:ext cx="5242255" cy="6858000"/>
          </a:xfrm>
          <a:prstGeom prst="rect">
            <a:avLst/>
          </a:prstGeom>
          <a:solidFill>
            <a:srgbClr val="742774"/>
          </a:solidFill>
          <a:ln/>
        </p:spPr>
      </p:sp>
      <p:sp>
        <p:nvSpPr>
          <p:cNvPr id="3" name="Shape 1"/>
          <p:cNvSpPr/>
          <p:nvPr/>
        </p:nvSpPr>
        <p:spPr>
          <a:xfrm>
            <a:off x="7269480" y="1926143"/>
            <a:ext cx="4572000" cy="3005714"/>
          </a:xfrm>
          <a:prstGeom prst="roundRect">
            <a:avLst>
              <a:gd name="adj" fmla="val 3651"/>
            </a:avLst>
          </a:prstGeom>
          <a:solidFill>
            <a:srgbClr val="FFFFFF"/>
          </a:solidFill>
          <a:ln w="9525">
            <a:solidFill>
              <a:srgbClr val="E6DDE9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4" name="Image 0" descr="/home/claude/assets/listas_s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79208" y="2035871"/>
            <a:ext cx="4352544" cy="278625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91440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POWER APPS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1417320"/>
            <a:ext cx="594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D9C6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2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011680"/>
            <a:ext cx="60350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Orígenes de datos y lógica de aplicaciones</a:t>
            </a:r>
            <a:endParaRPr lang="en-US" sz="38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4343400"/>
            <a:ext cx="5852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E4D7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 en OneDrive como repositorio, galerías y formularios para leer y escribir, y Power Fx para dar lógica a la app.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5989320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horas · 3 demos guiadas · 2 prácticas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427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 DE LA SESIÓN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E1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Datos por la mañana, lógica por la tarde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7680960"/>
                <a:gridCol w="1463040"/>
                <a:gridCol w="91440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4277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Bloque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4277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Tipo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4277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4277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0:00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Repaso de la Sesión 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Teoría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0:10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Bloque A · Orígenes de datos, conectores y Excel en OneDrive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Teoría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0:30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D2.1 · De la tabla de Excel a la app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74277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Demo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0:40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Bloque B · Galerías y formularios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Teoría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0:55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D2.2 · Galería y formulario a mano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74277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Demo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1:10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P2.1 · App de solicitudes sobre Excel en OneDrive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9A6B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Práctica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2:10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Descanso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2:25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Bloque C · Power Fx: funciones, condicionales, variables y colecciones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Teoría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2:45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D2.3 · Delegación, filtros y variables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74277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Demo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3:00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P2.2 · Lógica con Power Fx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9A6B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Práctica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3:50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Cierre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Power Apps · Sesión 2 · Orígenes de datos y lógica de aplicaciones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1185855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427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REPASO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E1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que vimos en la Sesión 1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148840"/>
            <a:ext cx="2560320" cy="3383280"/>
          </a:xfrm>
          <a:prstGeom prst="roundRect">
            <a:avLst>
              <a:gd name="adj" fmla="val 4286"/>
            </a:avLst>
          </a:prstGeom>
          <a:solidFill>
            <a:srgbClr val="F7F3F8"/>
          </a:solidFill>
          <a:ln w="9525">
            <a:solidFill>
              <a:srgbClr val="E6DDE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423160"/>
            <a:ext cx="566928" cy="566928"/>
          </a:xfrm>
          <a:prstGeom prst="ellipse">
            <a:avLst/>
          </a:prstGeom>
          <a:solidFill>
            <a:srgbClr val="74277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24231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10896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E1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Power Platform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7947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Apps, Power Automate, Power BI, Copilot Studio y Power Pages, unidos por conectores.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3383280" y="2148840"/>
            <a:ext cx="2560320" cy="3383280"/>
          </a:xfrm>
          <a:prstGeom prst="roundRect">
            <a:avLst>
              <a:gd name="adj" fmla="val 4286"/>
            </a:avLst>
          </a:prstGeom>
          <a:solidFill>
            <a:srgbClr val="F7F3F8"/>
          </a:solidFill>
          <a:ln w="9525">
            <a:solidFill>
              <a:srgbClr val="E6DDE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57600" y="2423160"/>
            <a:ext cx="566928" cy="566928"/>
          </a:xfrm>
          <a:prstGeom prst="ellipse">
            <a:avLst/>
          </a:prstGeom>
          <a:solidFill>
            <a:srgbClr val="74277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657600" y="24231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3657600" y="310896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E1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Apps de lienzo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3657600" y="37947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Pantallas con controles; cada propiedad puede ser una fórmula.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6217920" y="2148840"/>
            <a:ext cx="2560320" cy="3383280"/>
          </a:xfrm>
          <a:prstGeom prst="roundRect">
            <a:avLst>
              <a:gd name="adj" fmla="val 4286"/>
            </a:avLst>
          </a:prstGeom>
          <a:solidFill>
            <a:srgbClr val="F7F3F8"/>
          </a:solidFill>
          <a:ln w="9525">
            <a:solidFill>
              <a:srgbClr val="E6DDE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92240" y="2423160"/>
            <a:ext cx="566928" cy="566928"/>
          </a:xfrm>
          <a:prstGeom prst="ellipse">
            <a:avLst/>
          </a:prstGeom>
          <a:solidFill>
            <a:srgbClr val="74277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92240" y="24231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6492240" y="310896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E1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Navegación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6492240" y="37947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Navigate con transición, Back y pantallas ocultas.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9052560" y="2148840"/>
            <a:ext cx="2560320" cy="3383280"/>
          </a:xfrm>
          <a:prstGeom prst="roundRect">
            <a:avLst>
              <a:gd name="adj" fmla="val 4286"/>
            </a:avLst>
          </a:prstGeom>
          <a:solidFill>
            <a:srgbClr val="F7F3F8"/>
          </a:solidFill>
          <a:ln w="9525">
            <a:solidFill>
              <a:srgbClr val="E6DDE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326880" y="2423160"/>
            <a:ext cx="566928" cy="566928"/>
          </a:xfrm>
          <a:prstGeom prst="ellipse">
            <a:avLst/>
          </a:prstGeom>
          <a:solidFill>
            <a:srgbClr val="74277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326880" y="24231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9326880" y="310896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E1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Publicar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9326880" y="37947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Guardar crea versión; publicar la hace visible a los usuarios.</a:t>
            </a:r>
            <a:endParaRPr lang="en-US" sz="135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Power Apps · Sesión 2 · Orígenes de datos y lógica de aplicaciones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11185855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2E14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737360"/>
            <a:ext cx="2377440" cy="2377440"/>
          </a:xfrm>
          <a:prstGeom prst="ellipse">
            <a:avLst/>
          </a:prstGeom>
          <a:solidFill>
            <a:srgbClr val="742774"/>
          </a:solidFill>
          <a:ln w="25400">
            <a:solidFill>
              <a:srgbClr val="B98BC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31520" y="1737360"/>
            <a:ext cx="23774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9600" dirty="0"/>
          </a:p>
        </p:txBody>
      </p:sp>
      <p:sp>
        <p:nvSpPr>
          <p:cNvPr id="4" name="Text 2"/>
          <p:cNvSpPr txBox="1"/>
          <p:nvPr/>
        </p:nvSpPr>
        <p:spPr>
          <a:xfrm>
            <a:off x="3657600" y="1645920"/>
            <a:ext cx="7863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Orígenes de datos, conectores y Excel en OneDrive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3657600" y="3108960"/>
            <a:ext cx="76809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E4D7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es un conector y qué tipos hay</a:t>
            </a:r>
            <a:endParaRPr lang="en-US" sz="17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E4D7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Comparativa de orígenes habituales</a:t>
            </a:r>
            <a:endParaRPr lang="en-US" sz="17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E4D7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 en OneDrive y sus tablas como repositorio de información</a:t>
            </a:r>
            <a:endParaRPr lang="en-US" sz="17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E4D7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Tipos de columna y nombres internos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DB8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Power Apps · Sesión 2 · Orígenes de datos y lógica de aplicaciones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1185855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DB8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427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ORÍGENES DE DATOS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E1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¿Dónde guardo los datos de mi app?</a:t>
            </a:r>
            <a:endParaRPr lang="en-US" sz="3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6424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749040"/>
                <a:gridCol w="3931920"/>
                <a:gridCol w="15544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Origen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4277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Ventajas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4277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Límites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4277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Licencia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4277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E14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Excel en OneDrive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Rápido, conocido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 usuario a la vez, sin seguridad por fila, lento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Estándar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E14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Lista de SharePoint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Permisos, versiones, colaboración, integración con Microsoft 365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Delegación limitada; no para millones de filas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Estándar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E14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Dataverse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Relaciones, seguridad por roles, lógica de negocio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Requiere licencia premium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Premium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E14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SQL Server / Azure SQL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Grandes volúmenes, sistemas existentes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Requiere licencia y a veces pasarela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Premium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Power Apps · Sesión 2 · Orígenes de datos y lógica de aplicaciones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1185855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427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SHAREPOINT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E1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Mucho más que carpetas compartidas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08760"/>
            <a:ext cx="704088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rgbClr val="2E1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documental: </a:t>
            </a:r>
            <a:r>
              <a:rPr lang="en-US" sz="16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bibliotecas con versiones, metadatos y flujos.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rgbClr val="2E1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Intranet y comunicación: </a:t>
            </a:r>
            <a:r>
              <a:rPr lang="en-US" sz="16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sitios de equipo y de comunicación.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rgbClr val="2E1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Listas: </a:t>
            </a:r>
            <a:r>
              <a:rPr lang="en-US" sz="16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tablas de datos compartidas con permisos, vistas y formularios.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rgbClr val="2E1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Integración: </a:t>
            </a:r>
            <a:r>
              <a:rPr lang="en-US" sz="16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Apps y Power Automate están en el menú Integrar de cada lista.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955280" y="2097512"/>
            <a:ext cx="3657600" cy="3577377"/>
          </a:xfrm>
          <a:prstGeom prst="roundRect">
            <a:avLst>
              <a:gd name="adj" fmla="val 3067"/>
            </a:avLst>
          </a:prstGeom>
          <a:solidFill>
            <a:srgbClr val="FFFFFF"/>
          </a:solidFill>
          <a:ln w="9525">
            <a:solidFill>
              <a:srgbClr val="E6DDE9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6" name="Image 0" descr="/home/claude/assets/sharepoi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5008" y="2207240"/>
            <a:ext cx="3438144" cy="3357921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Power Apps · Sesión 2 · Orígenes de datos y lógica de aplicaciones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1185855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427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LISTAS DE SHAREPOINT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E1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Las listas como repositorio de información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08760"/>
            <a:ext cx="557784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rgbClr val="2E1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lista es una tabla: </a:t>
            </a:r>
            <a:r>
              <a:rPr lang="en-US" sz="16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filas (elementos) y columnas tipadas.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crean en blanco, desde Excel o desde plantilla.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rgbClr val="2E1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Permisos heredados del sitio: </a:t>
            </a:r>
            <a:r>
              <a:rPr lang="en-US" sz="16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propios de la lista.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rgbClr val="2E1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Historial de versiones de cada elemento: </a:t>
            </a:r>
            <a:r>
              <a:rPr lang="en-US" sz="16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configurar nada.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92240" y="2207739"/>
            <a:ext cx="5120640" cy="3356923"/>
          </a:xfrm>
          <a:prstGeom prst="roundRect">
            <a:avLst>
              <a:gd name="adj" fmla="val 3269"/>
            </a:avLst>
          </a:prstGeom>
          <a:solidFill>
            <a:srgbClr val="FFFFFF"/>
          </a:solidFill>
          <a:ln w="9525">
            <a:solidFill>
              <a:srgbClr val="E6DDE9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6" name="Image 0" descr="/home/claude/assets/listas_s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01968" y="2317467"/>
            <a:ext cx="4901184" cy="313746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Power Apps · Sesión 2 · Orígenes de datos y lógica de aplicaciones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1185855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427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COLUMNAS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E1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Tipos de columna y cómo se leen en Power Apps</a:t>
            </a:r>
            <a:endParaRPr lang="en-US" sz="3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3291840"/>
                <a:gridCol w="5029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Tipo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4277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Ejemplo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4277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 Power Fx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4277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E14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Una línea de texto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Title (Motivo)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ThisItem.Title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E14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Fecha y hora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FechaInicio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Text(ThisItem.FechaInicio; "dd/mm/yyyy")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E14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Número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Dias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ThisItem.Dias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E14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Elección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Estado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ThisItem.Estado.Value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E14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Persona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Solicitante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ThisItem.Solicitante.DisplayName · .Email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E14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Varias líneas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Comentarios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ThisItem.Comentarios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Power Apps · Sesión 2 · Orígenes de datos y lógica de aplicaciones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1185855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65760"/>
            <a:ext cx="2377440" cy="457200"/>
          </a:xfrm>
          <a:prstGeom prst="roundRect">
            <a:avLst>
              <a:gd name="adj" fmla="val 50000"/>
            </a:avLst>
          </a:prstGeom>
          <a:solidFill>
            <a:srgbClr val="74277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6576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D2.1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6012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1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la tabla de Excel a la app en cinco minutos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0020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427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minutos · Excel en OneDrive y Power Apps Studio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103120"/>
            <a:ext cx="658368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4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 formato de tabla a la hoja y subirla a OneDrive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4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Apps &gt; Crear &gt; App desde Excel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4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Recorrer las tres pantallas generadas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4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Leer Items de la galería e Item del formulario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4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Crear un registro y verlo en el Excel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7498080" y="3288081"/>
            <a:ext cx="4114800" cy="1744879"/>
          </a:xfrm>
          <a:prstGeom prst="roundRect">
            <a:avLst>
              <a:gd name="adj" fmla="val 6289"/>
            </a:avLst>
          </a:prstGeom>
          <a:solidFill>
            <a:srgbClr val="FFFFFF"/>
          </a:solidFill>
          <a:ln w="9525">
            <a:solidFill>
              <a:srgbClr val="E6DDE9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8" name="Image 0" descr="/home/claude/assets/lab_sp_list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07808" y="3397809"/>
            <a:ext cx="3895344" cy="1525423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Power Apps · Sesión 2 · Orígenes de datos y lógica de aplicaciones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11185855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2E14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737360"/>
            <a:ext cx="2377440" cy="2377440"/>
          </a:xfrm>
          <a:prstGeom prst="ellipse">
            <a:avLst/>
          </a:prstGeom>
          <a:solidFill>
            <a:srgbClr val="742774"/>
          </a:solidFill>
          <a:ln w="25400">
            <a:solidFill>
              <a:srgbClr val="B98BC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31520" y="1737360"/>
            <a:ext cx="23774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</a:t>
            </a:r>
            <a:endParaRPr lang="en-US" sz="9600" dirty="0"/>
          </a:p>
        </p:txBody>
      </p:sp>
      <p:sp>
        <p:nvSpPr>
          <p:cNvPr id="4" name="Text 2"/>
          <p:cNvSpPr txBox="1"/>
          <p:nvPr/>
        </p:nvSpPr>
        <p:spPr>
          <a:xfrm>
            <a:off x="3657600" y="1645920"/>
            <a:ext cx="7863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Galerías y formularios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3657600" y="3108960"/>
            <a:ext cx="76809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E4D7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Galería: Items, ThisItem y Selected</a:t>
            </a:r>
            <a:endParaRPr lang="en-US" sz="17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E4D7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Formulario: DataSource, Item y modos</a:t>
            </a:r>
            <a:endParaRPr lang="en-US" sz="17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E4D7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Funciones de formulario</a:t>
            </a:r>
            <a:endParaRPr lang="en-US" sz="17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E4D7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Escribir sin formulario: Patch y Remove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DB8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Power Apps · Sesión 2 · Orígenes de datos y lógica de aplicaciones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1185855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DB8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427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GALERÍAS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E1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Mostrar varios registros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08760"/>
            <a:ext cx="649224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rgbClr val="2E1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Items: </a:t>
            </a:r>
            <a:r>
              <a:rPr lang="en-US" sz="16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tabla que muestra la galería.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rgbClr val="2E1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Plantilla: </a:t>
            </a:r>
            <a:r>
              <a:rPr lang="en-US" sz="16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primer elemento se diseña y se repite en todos.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rgbClr val="2E1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ThisItem: </a:t>
            </a:r>
            <a:r>
              <a:rPr lang="en-US" sz="16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fila actual dentro de la plantilla.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rgbClr val="2E1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Selected: </a:t>
            </a:r>
            <a:r>
              <a:rPr lang="en-US" sz="16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fila elegida por el usuario, visible desde otras pantallas.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rgbClr val="2E1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Vertical, horizontal o flexible: </a:t>
            </a:r>
            <a:r>
              <a:rPr lang="en-US" sz="16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según el contenido.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406640" y="2036477"/>
            <a:ext cx="4206240" cy="3699445"/>
          </a:xfrm>
          <a:prstGeom prst="roundRect">
            <a:avLst>
              <a:gd name="adj" fmla="val 2966"/>
            </a:avLst>
          </a:prstGeom>
          <a:solidFill>
            <a:srgbClr val="FFFFFF"/>
          </a:solidFill>
          <a:ln w="9525">
            <a:solidFill>
              <a:srgbClr val="E6DDE9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6" name="Image 0" descr="/home/claude/assets/galeri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2146205"/>
            <a:ext cx="3986784" cy="3479989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Power Apps · Sesión 2 · Orígenes de datos y lógica de aplicaciones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1185855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427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FORMULARIOS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E1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Ver, editar y crear registros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08760"/>
            <a:ext cx="557784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rgbClr val="2E1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DataSource: </a:t>
            </a:r>
            <a:r>
              <a:rPr lang="en-US" sz="16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lista o tabla.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rgbClr val="2E1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Item: </a:t>
            </a:r>
            <a:r>
              <a:rPr lang="en-US" sz="16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registro que muestra (galSolicitudes.Selected).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rgbClr val="2E1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Tarjetas de datos: </a:t>
            </a:r>
            <a:r>
              <a:rPr lang="en-US" sz="16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por columna, con su control adecuado.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rgbClr val="2E1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Modos: </a:t>
            </a:r>
            <a:r>
              <a:rPr lang="en-US" sz="16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Nuevo, Editar y Vista (DefaultMode).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92240" y="2579894"/>
            <a:ext cx="5120640" cy="2612612"/>
          </a:xfrm>
          <a:prstGeom prst="roundRect">
            <a:avLst>
              <a:gd name="adj" fmla="val 4200"/>
            </a:avLst>
          </a:prstGeom>
          <a:solidFill>
            <a:srgbClr val="FFFFFF"/>
          </a:solidFill>
          <a:ln w="9525">
            <a:solidFill>
              <a:srgbClr val="E6DDE9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6" name="Image 0" descr="/home/claude/assets/formulario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01968" y="2689622"/>
            <a:ext cx="4901184" cy="239315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Power Apps · Sesión 2 · Orígenes de datos y lógica de aplicaciones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1185855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427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FUNCIONES DE FORMULARIO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E1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ciclo de un formulario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6492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NewForm / EditForm / ViewForm cambian el modo.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SubmitForm valida y guarda; ResetForm descarta.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OnSuccess y OnFailure reaccionan al resultado.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3017520"/>
            <a:ext cx="6492240" cy="2560320"/>
          </a:xfrm>
          <a:prstGeom prst="roundRect">
            <a:avLst>
              <a:gd name="adj" fmla="val 2857"/>
            </a:avLst>
          </a:prstGeom>
          <a:solidFill>
            <a:srgbClr val="1F1A24"/>
          </a:solidFill>
          <a:ln w="12700">
            <a:solidFill>
              <a:srgbClr val="1F1A2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3108960"/>
            <a:ext cx="61264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3E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Icono +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3E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NewForm(frmSolicitud);; Navigate(scrForm)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3E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3E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Guardar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3E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SubmitForm(frmSolicitud)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3E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3E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OnSuccess del formulario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3E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Notify("Guardado"; NotificationType.Success);; Back()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406640" y="2984226"/>
            <a:ext cx="4206240" cy="1803947"/>
          </a:xfrm>
          <a:prstGeom prst="roundRect">
            <a:avLst>
              <a:gd name="adj" fmla="val 6083"/>
            </a:avLst>
          </a:prstGeom>
          <a:solidFill>
            <a:srgbClr val="FFFFFF"/>
          </a:solidFill>
          <a:ln w="9525">
            <a:solidFill>
              <a:srgbClr val="E6DDE9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8" name="Image 0" descr="/home/claude/assets/modo_formulari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3093954"/>
            <a:ext cx="3986784" cy="1584491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Power Apps · Sesión 2 · Orígenes de datos y lógica de aplicaciones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11185855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427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FORMULARIO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E1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Patch, Remove y Defaults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2E1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Patch: </a:t>
            </a:r>
            <a:r>
              <a:rPr lang="en-US" sz="15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 o modifica un registro desde cualquier control.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2E1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Defaults: </a:t>
            </a:r>
            <a:r>
              <a:rPr lang="en-US" sz="15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plantilla de registro nuevo con los valores predeterminados.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2E1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Remove: </a:t>
            </a:r>
            <a:r>
              <a:rPr lang="en-US" sz="15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elimina un registro.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3017520"/>
            <a:ext cx="11064240" cy="2834640"/>
          </a:xfrm>
          <a:prstGeom prst="roundRect">
            <a:avLst>
              <a:gd name="adj" fmla="val 2581"/>
            </a:avLst>
          </a:prstGeom>
          <a:solidFill>
            <a:srgbClr val="1F1A24"/>
          </a:solidFill>
          <a:ln w="12700">
            <a:solidFill>
              <a:srgbClr val="1F1A2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3108960"/>
            <a:ext cx="106984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3E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Crear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3E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Patch('Solicitudes de vacaciones'; Defaults('Solicitudes de vacaciones');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3E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{ Title: txtMotivo.Text; Dias: Value(txtDias.Text) })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3E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3E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Modificar la fila actual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3E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Patch('Solicitudes de vacaciones'; ThisItem; { Estado: { Value: "Rechazada" } })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3E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3E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Eliminar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3E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Remove('Solicitudes de vacaciones'; galSolicitudes.Selected)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Power Apps · Sesión 2 · Orígenes de datos y lógica de aplicaciones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85855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65760"/>
            <a:ext cx="2377440" cy="457200"/>
          </a:xfrm>
          <a:prstGeom prst="roundRect">
            <a:avLst>
              <a:gd name="adj" fmla="val 50000"/>
            </a:avLst>
          </a:prstGeom>
          <a:solidFill>
            <a:srgbClr val="74277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6576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D2.2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6012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1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Galería y formulario construidos a mano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0020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427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minutos · app en blanco en formato teléfono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103120"/>
            <a:ext cx="63093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4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Conectar la lista Solicitudes de vacaciones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4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Galería con ThisItem.Title, fechas y Tipo.Value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4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Pantalla con formulario: DataSource e Item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4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NewForm, EditForm y navegación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4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SubmitForm con OnSuccess y Notify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4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Patch desde un botón de la galería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4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 durante un guardado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7223760" y="2103120"/>
            <a:ext cx="4389120" cy="402336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9525">
            <a:solidFill>
              <a:srgbClr val="E6DDE9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7452360" y="228600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4277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Errores que conviene enseñar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452360" y="2743200"/>
            <a:ext cx="39319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Olvidar .Value en columnas de elección</a:t>
            </a:r>
            <a:endParaRPr lang="en-US" sz="1300" dirty="0"/>
          </a:p>
          <a:p>
            <a:pPr marL="203200" indent="-2032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 sin enlazar a Selected</a:t>
            </a:r>
            <a:endParaRPr lang="en-US" sz="1300" dirty="0"/>
          </a:p>
          <a:p>
            <a:pPr marL="203200" indent="-2032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Guardar y no volver: falta Back()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Power Apps · Sesión 2 · Orígenes de datos y lógica de aplicaciones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11185855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8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65760"/>
            <a:ext cx="2377440" cy="457200"/>
          </a:xfrm>
          <a:prstGeom prst="roundRect">
            <a:avLst>
              <a:gd name="adj" fmla="val 50000"/>
            </a:avLst>
          </a:prstGeom>
          <a:solidFill>
            <a:srgbClr val="F2A90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6576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1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PRÁCTICA P2.1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6012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1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 de solicitudes de vacaciones sobre Excel en OneDrive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0020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A6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 minutos · Guía: SESION_2/PRACTICAS/P2.1 · Caso integrador del curso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103120"/>
            <a:ext cx="63093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4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Subir el libro a OneDrive con la tabla Solicitudes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4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en blanco conectada a la tabla de Excel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4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Galería filtrada por usuario y ordenada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4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Desplegable, selectores de fecha y solicitante automático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4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Crear, editar, eliminar y cancelar con Patch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4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Probar y publicar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7223760" y="2103120"/>
            <a:ext cx="4389120" cy="402336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9525">
            <a:solidFill>
              <a:srgbClr val="E6DDE9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7452360" y="228600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A6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Resultado esperado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452360" y="2743200"/>
            <a:ext cx="39319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empleado ve solo sus solicitudes</a:t>
            </a:r>
            <a:endParaRPr lang="en-US" sz="1300" dirty="0"/>
          </a:p>
          <a:p>
            <a:pPr marL="203200" indent="-2032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cambios aparecen en el Excel de OneDrive</a:t>
            </a:r>
            <a:endParaRPr lang="en-US" sz="1300" dirty="0"/>
          </a:p>
          <a:p>
            <a:pPr marL="203200" indent="-2032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Notificación tras guardar</a:t>
            </a:r>
            <a:endParaRPr lang="en-US" sz="1300" dirty="0"/>
          </a:p>
          <a:p>
            <a:pPr marL="203200" indent="-2032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para las Sesiones 3 y 4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Power Apps · Sesión 2 · Orígenes de datos y lógica de aplicaciones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11185855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74277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14400" y="1645920"/>
            <a:ext cx="103327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Descanso · 15 minutos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4206240"/>
            <a:ext cx="10058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AD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 vuelta: Power Fx, el lenguaje que da lógica a tus apps.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DB8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Power Apps · Sesión 2 · Orígenes de datos y lógica de aplicaciones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1185855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DB8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2E14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737360"/>
            <a:ext cx="2377440" cy="2377440"/>
          </a:xfrm>
          <a:prstGeom prst="ellipse">
            <a:avLst/>
          </a:prstGeom>
          <a:solidFill>
            <a:srgbClr val="742774"/>
          </a:solidFill>
          <a:ln w="25400">
            <a:solidFill>
              <a:srgbClr val="B98BC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31520" y="1737360"/>
            <a:ext cx="23774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9600" dirty="0"/>
          </a:p>
        </p:txBody>
      </p:sp>
      <p:sp>
        <p:nvSpPr>
          <p:cNvPr id="4" name="Text 2"/>
          <p:cNvSpPr txBox="1"/>
          <p:nvPr/>
        </p:nvSpPr>
        <p:spPr>
          <a:xfrm>
            <a:off x="3657600" y="1645920"/>
            <a:ext cx="7863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Power Fx: funciones, condicionales, variables y colecciones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3657600" y="3108960"/>
            <a:ext cx="76809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E4D7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Texto, números y fechas</a:t>
            </a:r>
            <a:endParaRPr lang="en-US" sz="17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E4D7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If, Switch y With</a:t>
            </a:r>
            <a:endParaRPr lang="en-US" sz="17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E4D7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 globales y de contexto</a:t>
            </a:r>
            <a:endParaRPr lang="en-US" sz="17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E4D7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Colecciones y tablas</a:t>
            </a:r>
            <a:endParaRPr lang="en-US" sz="17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E4D7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Delegación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DB8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Power Apps · Sesión 2 · Orígenes de datos y lógica de aplicaciones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1185855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DB8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427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FX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E1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Excel, pero en la app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6492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2E1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Fórmulas declarativas: </a:t>
            </a:r>
            <a:r>
              <a:rPr lang="en-US" sz="15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recalculan solas cuando cambian los datos.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2E1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Texto: </a:t>
            </a:r>
            <a:r>
              <a:rPr lang="en-US" sz="15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para unir, Text para formatear, Substitute para reemplazar.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2E1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Números y fechas: </a:t>
            </a:r>
            <a:r>
              <a:rPr lang="en-US" sz="15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Value, Round, Today, DateAdd, DateDiff.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3017520"/>
            <a:ext cx="6492240" cy="1463040"/>
          </a:xfrm>
          <a:prstGeom prst="roundRect">
            <a:avLst>
              <a:gd name="adj" fmla="val 5000"/>
            </a:avLst>
          </a:prstGeom>
          <a:solidFill>
            <a:srgbClr val="1F1A24"/>
          </a:solidFill>
          <a:ln w="12700">
            <a:solidFill>
              <a:srgbClr val="1F1A2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3108960"/>
            <a:ext cx="6126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3E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Text(Value(txtQty.Text) * Value(txtPrice.Text); "#.##0,00 €")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3E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"Hola, " &amp; User().FullName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3E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DateDiff(dteInicio.SelectedDate; dteFin.SelectedDate; TimeUnit.Days) + 1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3E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DateAdd(Today(); 10; TimeUnit.Days)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406640" y="2655189"/>
            <a:ext cx="4206240" cy="2462022"/>
          </a:xfrm>
          <a:prstGeom prst="roundRect">
            <a:avLst>
              <a:gd name="adj" fmla="val 4457"/>
            </a:avLst>
          </a:prstGeom>
          <a:solidFill>
            <a:srgbClr val="FFFFFF"/>
          </a:solidFill>
          <a:ln w="9525">
            <a:solidFill>
              <a:srgbClr val="E6DDE9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8" name="Image 0" descr="/home/claude/assets/formulas_pizarra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2764917"/>
            <a:ext cx="3986784" cy="2242566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Power Apps · Sesión 2 · Orígenes de datos y lógica de aplicaciones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11185855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427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CONDICIONALES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E1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If, Switch y With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2E1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If: </a:t>
            </a:r>
            <a:r>
              <a:rPr lang="en-US" sz="15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o varias condiciones con su resultado.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2E1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Switch: </a:t>
            </a:r>
            <a:r>
              <a:rPr lang="en-US" sz="15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 un valor con varias opciones.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2E1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With: </a:t>
            </a:r>
            <a:r>
              <a:rPr lang="en-US" sz="15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nombre a un cálculo para no repetirlo.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3017520"/>
            <a:ext cx="11064240" cy="2834640"/>
          </a:xfrm>
          <a:prstGeom prst="roundRect">
            <a:avLst>
              <a:gd name="adj" fmla="val 2581"/>
            </a:avLst>
          </a:prstGeom>
          <a:solidFill>
            <a:srgbClr val="1F1A24"/>
          </a:solidFill>
          <a:ln w="12700">
            <a:solidFill>
              <a:srgbClr val="1F1A2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3108960"/>
            <a:ext cx="106984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3E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Color = If(total &gt; 50; Green; Blue)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3E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3E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Switch(ThisItem.Estado.Value;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3E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"Aprobada"; Green;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3E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"Rechazada"; Red;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3E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RGBA(230; 150; 0; 1))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3E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3E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With({ total: Value(txtQty.Text) * Value(txtPrice.Text) };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3E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If(total &gt;= 1000; "Dirección"; total &gt;= 100; "Responsable"; "Automática"))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Power Apps · Sesión 2 · Orígenes de datos y lógica de aplicaciones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85855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427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E1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Globales, de contexto y fórmulas con nombre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6492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2E1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Set: </a:t>
            </a:r>
            <a:r>
              <a:rPr lang="en-US" sz="15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 global, visible en toda la app.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2E1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UpdateContext: </a:t>
            </a:r>
            <a:r>
              <a:rPr lang="en-US" sz="15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 de contexto, solo en su pantalla.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2E1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App.Formulas: </a:t>
            </a:r>
            <a:r>
              <a:rPr lang="en-US" sz="15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el valor se calcula, mejor una fórmula con nombre.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3017520"/>
            <a:ext cx="6492240" cy="1737360"/>
          </a:xfrm>
          <a:prstGeom prst="roundRect">
            <a:avLst>
              <a:gd name="adj" fmla="val 4211"/>
            </a:avLst>
          </a:prstGeom>
          <a:solidFill>
            <a:srgbClr val="1F1A24"/>
          </a:solidFill>
          <a:ln w="12700">
            <a:solidFill>
              <a:srgbClr val="1F1A2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3108960"/>
            <a:ext cx="6126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3E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Set(gblUser; User().Email)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3E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UpdateContext({ locTotal: locTotal + 1 })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3E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3E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App.Formulas (Sesión 3)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3E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fxMaxDias = 22;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406640" y="3296957"/>
            <a:ext cx="4206240" cy="1178486"/>
          </a:xfrm>
          <a:prstGeom prst="roundRect">
            <a:avLst>
              <a:gd name="adj" fmla="val 9311"/>
            </a:avLst>
          </a:prstGeom>
          <a:solidFill>
            <a:srgbClr val="FFFFFF"/>
          </a:solidFill>
          <a:ln w="9525">
            <a:solidFill>
              <a:srgbClr val="E6DDE9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8" name="Image 0" descr="/home/claude/assets/variabl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3406685"/>
            <a:ext cx="3986784" cy="95903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Power Apps · Sesión 2 · Orígenes de datos y lógica de aplicaciones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11185855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427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COLECCIONES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E1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Tablas en memoria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6492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2E1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ClearCollect: </a:t>
            </a:r>
            <a:r>
              <a:rPr lang="en-US" sz="15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vacía y rellena; Collect añade.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2E1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Patch y Remove: </a:t>
            </a:r>
            <a:r>
              <a:rPr lang="en-US" sz="15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modifican y eliminan filas.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2E1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Viven en el dispositivo: </a:t>
            </a:r>
            <a:r>
              <a:rPr lang="en-US" sz="15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pierden al cerrar la app.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3017520"/>
            <a:ext cx="6492240" cy="2011680"/>
          </a:xfrm>
          <a:prstGeom prst="roundRect">
            <a:avLst>
              <a:gd name="adj" fmla="val 3636"/>
            </a:avLst>
          </a:prstGeom>
          <a:solidFill>
            <a:srgbClr val="1F1A24"/>
          </a:solidFill>
          <a:ln w="12700">
            <a:solidFill>
              <a:srgbClr val="1F1A2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310896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3E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ClearCollect(colCities;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3E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{ City: "Madrid"; Population: 3332000 };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3E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{ City: "Lisboa"; Population: 545000 })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3E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3E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Filter(colCities; Population &gt;= sldPop.Value)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3E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Remove(colCities; varCity)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406640" y="2845106"/>
            <a:ext cx="4206240" cy="2082189"/>
          </a:xfrm>
          <a:prstGeom prst="roundRect">
            <a:avLst>
              <a:gd name="adj" fmla="val 5270"/>
            </a:avLst>
          </a:prstGeom>
          <a:solidFill>
            <a:srgbClr val="FFFFFF"/>
          </a:solidFill>
          <a:ln w="9525">
            <a:solidFill>
              <a:srgbClr val="E6DDE9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8" name="Image 0" descr="/home/claude/assets/lab_coleccion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2954834"/>
            <a:ext cx="3986784" cy="1862733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Power Apps · Sesión 2 · Orígenes de datos y lógica de aplicaciones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11185855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427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RENDIMIENTO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E1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Delegación: quién filtra los datos</a:t>
            </a:r>
            <a:endParaRPr lang="en-US" sz="30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6424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1381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4277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Qué significa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4277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E14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Delegable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 servidor filtra y devuelve solo lo necesario. Escala a orígenes grandes.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E14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delegable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Power Apps descarga los primeros 500 registros (hasta 2.000) y filtra en local. Puedes no ver todo.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E14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Aviso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Triángulo amarillo y subrayado azul en la fórmula.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E14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Delegables con SharePoint o Dataverse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Filter con =, &lt;, &gt;, StartsWith, And/Or, SortByColumns, LookUp.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E14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delegables · con Excel no delega nada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Search, in, Len, operaciones sobre columnas calculadas.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Power Apps · Sesión 2 · Orígenes de datos y lógica de aplicaciones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1185855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7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65760"/>
            <a:ext cx="2377440" cy="457200"/>
          </a:xfrm>
          <a:prstGeom prst="roundRect">
            <a:avLst>
              <a:gd name="adj" fmla="val 50000"/>
            </a:avLst>
          </a:prstGeom>
          <a:solidFill>
            <a:srgbClr val="74277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6576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D2.3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6012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1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Delegación, filtros y variables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0020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427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minutos · sobre la app de la demo D2.2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103120"/>
            <a:ext cx="63093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4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sobre Excel y el aviso de delegación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4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Límite de 500 y dónde se cambia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4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Sustituir por Filter con StartsWith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4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y UpdateContext con un contador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4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 Variables y colecciones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4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ClearCollect en OnVisible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7223760" y="2103120"/>
            <a:ext cx="4389120" cy="402336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9525">
            <a:solidFill>
              <a:srgbClr val="E6DDE9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7452360" y="228600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4277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Regla práctica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452360" y="2743200"/>
            <a:ext cx="39319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 en la lista: filtra en la lista</a:t>
            </a:r>
            <a:endParaRPr lang="en-US" sz="1300" dirty="0"/>
          </a:p>
          <a:p>
            <a:pPr marL="203200" indent="-2032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 temporal: colección</a:t>
            </a:r>
            <a:endParaRPr lang="en-US" sz="1300" dirty="0"/>
          </a:p>
          <a:p>
            <a:pPr marL="203200" indent="-2032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 calculado: fórmula con nombre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Power Apps · Sesión 2 · Orígenes de datos y lógica de aplicaciones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11185855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8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65760"/>
            <a:ext cx="2377440" cy="457200"/>
          </a:xfrm>
          <a:prstGeom prst="roundRect">
            <a:avLst>
              <a:gd name="adj" fmla="val 50000"/>
            </a:avLst>
          </a:prstGeom>
          <a:solidFill>
            <a:srgbClr val="F2A90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6576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1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PRÁCTICA P2.2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6012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1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Lógica de negocio con Power Fx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0020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A6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minutos · Guía: SESION_2/PRACTICAS/P2.2 · App nueva e independiente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103120"/>
            <a:ext cx="63093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4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Calculadora de presupuesto con formato en euros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4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Formato condicional con If y tramos con Switch y With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4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Acumulado con variable de contexto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4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 global y panel de variables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4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Colección de ciudades con filtros y orden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4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LookUp, Patch, Collect y Remove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7223760" y="2103120"/>
            <a:ext cx="4389120" cy="402336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9525">
            <a:solidFill>
              <a:srgbClr val="E6DDE9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7452360" y="228600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A6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Atención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452360" y="2743200"/>
            <a:ext cx="39319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Value() al multiplicar cuadros de texto</a:t>
            </a:r>
            <a:endParaRPr lang="en-US" sz="1300" dirty="0"/>
          </a:p>
          <a:p>
            <a:pPr marL="203200" indent="-2032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y ;; con navegador en español</a:t>
            </a:r>
            <a:endParaRPr lang="en-US" sz="1300" dirty="0"/>
          </a:p>
          <a:p>
            <a:pPr marL="203200" indent="-2032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Ejecutar OnVisible en modo edición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Power Apps · Sesión 2 · Orígenes de datos y lógica de aplicaciones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11185855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427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COMPRUEBA LO APRENDIDO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E1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¿Cómo se ordena por fecha una columna de texto del Excel?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574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7F3F8"/>
          </a:solidFill>
          <a:ln w="9525">
            <a:solidFill>
              <a:srgbClr val="E6DDE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2185416"/>
            <a:ext cx="521208" cy="521208"/>
          </a:xfrm>
          <a:prstGeom prst="ellipse">
            <a:avLst/>
          </a:prstGeom>
          <a:solidFill>
            <a:srgbClr val="74277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2185416"/>
            <a:ext cx="521208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2057400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Guardando la fecha como aaaa-mm-dd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48640" y="29718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7F3F8"/>
          </a:solidFill>
          <a:ln w="9525">
            <a:solidFill>
              <a:srgbClr val="E6DDE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520" y="3099816"/>
            <a:ext cx="521208" cy="521208"/>
          </a:xfrm>
          <a:prstGeom prst="ellipse">
            <a:avLst/>
          </a:prstGeom>
          <a:solidFill>
            <a:srgbClr val="74277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31520" y="3099816"/>
            <a:ext cx="521208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463040" y="2971800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Sort por el número de serie de Excel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48640" y="38862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7F3F8"/>
          </a:solidFill>
          <a:ln w="9525">
            <a:solidFill>
              <a:srgbClr val="E6DDE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31520" y="4014216"/>
            <a:ext cx="521208" cy="521208"/>
          </a:xfrm>
          <a:prstGeom prst="ellipse">
            <a:avLst/>
          </a:prstGeom>
          <a:solidFill>
            <a:srgbClr val="74277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31520" y="4014216"/>
            <a:ext cx="521208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463040" y="3886200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se puede ordenar por fecha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0" y="48006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7F3F8"/>
          </a:solidFill>
          <a:ln w="9525">
            <a:solidFill>
              <a:srgbClr val="E6DDE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31520" y="4928616"/>
            <a:ext cx="521208" cy="521208"/>
          </a:xfrm>
          <a:prstGeom prst="ellipse">
            <a:avLst/>
          </a:prstGeom>
          <a:solidFill>
            <a:srgbClr val="74277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31520" y="4928616"/>
            <a:ext cx="521208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1463040" y="4800600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Convirtiendo cada fila con DateValue en Items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Power Apps · Sesión 2 · Orígenes de datos y lógica de aplicaciones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11185855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427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COMPRUEBA LO APRENDIDO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E1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Quieres un contador que solo usa una pantalla. ¿Qué empleas?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574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7F3F8"/>
          </a:solidFill>
          <a:ln w="9525">
            <a:solidFill>
              <a:srgbClr val="E6DDE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2185416"/>
            <a:ext cx="521208" cy="521208"/>
          </a:xfrm>
          <a:prstGeom prst="ellipse">
            <a:avLst/>
          </a:prstGeom>
          <a:solidFill>
            <a:srgbClr val="74277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2185416"/>
            <a:ext cx="521208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2057400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48640" y="29718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7F3F8"/>
          </a:solidFill>
          <a:ln w="9525">
            <a:solidFill>
              <a:srgbClr val="E6DDE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520" y="3099816"/>
            <a:ext cx="521208" cy="521208"/>
          </a:xfrm>
          <a:prstGeom prst="ellipse">
            <a:avLst/>
          </a:prstGeom>
          <a:solidFill>
            <a:srgbClr val="74277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31520" y="3099816"/>
            <a:ext cx="521208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463040" y="2971800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colección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48640" y="38862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7F3F8"/>
          </a:solidFill>
          <a:ln w="9525">
            <a:solidFill>
              <a:srgbClr val="E6DDE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31520" y="4014216"/>
            <a:ext cx="521208" cy="521208"/>
          </a:xfrm>
          <a:prstGeom prst="ellipse">
            <a:avLst/>
          </a:prstGeom>
          <a:solidFill>
            <a:srgbClr val="74277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31520" y="4014216"/>
            <a:ext cx="521208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463040" y="3886200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UpdateContext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0" y="48006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7F3F8"/>
          </a:solidFill>
          <a:ln w="9525">
            <a:solidFill>
              <a:srgbClr val="E6DDE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31520" y="4928616"/>
            <a:ext cx="521208" cy="521208"/>
          </a:xfrm>
          <a:prstGeom prst="ellipse">
            <a:avLst/>
          </a:prstGeom>
          <a:solidFill>
            <a:srgbClr val="74277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31520" y="4928616"/>
            <a:ext cx="521208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1463040" y="4800600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columna del Excel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Power Apps · Sesión 2 · Orígenes de datos y lógica de aplicaciones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11185855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2E14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48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91440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que te llevas hoy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640080" cy="640080"/>
          </a:xfrm>
          <a:prstGeom prst="ellipse">
            <a:avLst/>
          </a:prstGeom>
          <a:solidFill>
            <a:srgbClr val="742774"/>
          </a:solidFill>
          <a:ln w="19050">
            <a:solidFill>
              <a:srgbClr val="B98BC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20116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1965960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EFE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 en OneDrive vale para empezar: cuida los tipos, la delegación y quién tiene el archivo abierto.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640080" y="2971800"/>
            <a:ext cx="640080" cy="640080"/>
          </a:xfrm>
          <a:prstGeom prst="ellipse">
            <a:avLst/>
          </a:prstGeom>
          <a:solidFill>
            <a:srgbClr val="742774"/>
          </a:solidFill>
          <a:ln w="19050">
            <a:solidFill>
              <a:srgbClr val="B98BC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29718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508760" y="2926080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EFE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Galería para leer, formulario o Patch para escribir, y siempre pensando en la delegación.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640080" y="3931920"/>
            <a:ext cx="640080" cy="640080"/>
          </a:xfrm>
          <a:prstGeom prst="ellipse">
            <a:avLst/>
          </a:prstGeom>
          <a:solidFill>
            <a:srgbClr val="742774"/>
          </a:solidFill>
          <a:ln w="19050">
            <a:solidFill>
              <a:srgbClr val="B98BC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0080" y="39319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1508760" y="3886200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EFE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Fx: If, Switch, variables y colecciones para dar lógica a la app.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640080" y="5257800"/>
            <a:ext cx="10881360" cy="822960"/>
          </a:xfrm>
          <a:prstGeom prst="roundRect">
            <a:avLst>
              <a:gd name="adj" fmla="val 13333"/>
            </a:avLst>
          </a:prstGeom>
          <a:solidFill>
            <a:srgbClr val="74277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68680" y="52578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Próxima sesión  </a:t>
            </a: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controles avanzados, validación, componentes e integración con Microsoft 365 y Power BI.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DB8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Power Apps · Sesión 2 · Orígenes de datos y lógica de aplicaciones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11185855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DB8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427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PREGUNTAS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E1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Antes de empezar, de la Sesión 1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148840"/>
            <a:ext cx="5120640" cy="3383280"/>
          </a:xfrm>
          <a:prstGeom prst="roundRect">
            <a:avLst>
              <a:gd name="adj" fmla="val 4286"/>
            </a:avLst>
          </a:prstGeom>
          <a:solidFill>
            <a:srgbClr val="F7F3F8"/>
          </a:solidFill>
          <a:ln w="9525">
            <a:solidFill>
              <a:srgbClr val="E6DDE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423160"/>
            <a:ext cx="566928" cy="566928"/>
          </a:xfrm>
          <a:prstGeom prst="ellipse">
            <a:avLst/>
          </a:prstGeom>
          <a:solidFill>
            <a:srgbClr val="74277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24231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10896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E1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¿Guardar o publicar?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794760"/>
            <a:ext cx="4572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compañera dice que ha guardado la app pero sus usuarios siguen viendo la versión antigua. ¿Qué le falta?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492240" y="2148840"/>
            <a:ext cx="5120640" cy="3383280"/>
          </a:xfrm>
          <a:prstGeom prst="roundRect">
            <a:avLst>
              <a:gd name="adj" fmla="val 4286"/>
            </a:avLst>
          </a:prstGeom>
          <a:solidFill>
            <a:srgbClr val="F7F3F8"/>
          </a:solidFill>
          <a:ln w="9525">
            <a:solidFill>
              <a:srgbClr val="E6DDE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766560" y="2423160"/>
            <a:ext cx="566928" cy="566928"/>
          </a:xfrm>
          <a:prstGeom prst="ellipse">
            <a:avLst/>
          </a:prstGeom>
          <a:solidFill>
            <a:srgbClr val="74277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766560" y="24231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6766560" y="310896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E1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¿Navigate o Back?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6766560" y="3794760"/>
            <a:ext cx="4572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Quieres volver a la pantalla anterior sin saber cuál era. ¿Qué función usas y qué pasa con la transición?</a:t>
            </a:r>
            <a:endParaRPr lang="en-US" sz="135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Power Apps · Sesión 2 · Orígenes de datos y lógica de aplicaciones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11185855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Curso Power Apps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Sesión 2 · Orígenes de datos y lógica</dc:title>
  <dc:subject>PptxGenJS Presentation</dc:subject>
  <dc:creator>Jorge</dc:creator>
  <cp:lastModifiedBy>Jorge</cp:lastModifiedBy>
  <cp:revision>1</cp:revision>
  <dcterms:created xsi:type="dcterms:W3CDTF">2026-09-22T06:35:23Z</dcterms:created>
  <dcterms:modified xsi:type="dcterms:W3CDTF">2026-09-22T06:35:23Z</dcterms:modified>
</cp:coreProperties>
</file>