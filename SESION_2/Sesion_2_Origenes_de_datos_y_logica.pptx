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4" r:id="rId35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  <Relationship Id="rId35" Type="http://schemas.openxmlformats.org/officeDocument/2006/relationships/slide" Target="slides/slide29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rápida a dos alumnos antes de pasar al bloque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Excel para prototipos; SharePoint para apps departamentales; Dataverse cuando crece.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Recalca el .Value de elección y el nombre interno: crea las columnas sin espacios ni tildes.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§4.3. Mensaje: perfecto para prototipos; en la práctica lo haremos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Subir el límite a 2.000 no es la solución: es un parche.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B.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C.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Respuestas. 1) Guardar crea una versión nueva pero no la reparte: hay que publicar, y los usuarios verán la versión publicada. 2) Back() vuelve a la pantalla anterior e invierte automáticamente la transición con la que llegaste; Navigate exige indicar la pantalla destino. Preguntar a dos alumnos distintos y no alargarlo más de cinco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3" name="Shape 1"/>
          <p:cNvSpPr/>
          <p:nvPr/>
        </p:nvSpPr>
        <p:spPr>
          <a:xfrm>
            <a:off x="7269480" y="1926143"/>
            <a:ext cx="4572000" cy="3005714"/>
          </a:xfrm>
          <a:prstGeom prst="roundRect">
            <a:avLst>
              <a:gd name="adj" fmla="val 3651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Image 0" descr="/home/claude/assets/listas_s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2035871"/>
            <a:ext cx="4352544" cy="278625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914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417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C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Orígenes de datos y lógica de aplicaciones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3434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como repositorio, galerías y formularios para leer y escribir, y Power Fx para dar lógica a la app.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989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horas · 3 demos guiadas · 2 prácticas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LA SESIÓN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por la mañana, lógica por la tarde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680960"/>
                <a:gridCol w="146304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Repaso de la Sesión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A · Orígenes de datos, conectores y SharePoint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D2.1 · De la lista de SharePoint a la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B · Galerías y formularios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D2.2 · Galería y formulario a mano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P2.1 · App de solicitudes sobre Excel en OneDrive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Descanso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C · Power Fx: funciones, condicionales, variables y colecciones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D2.3 · Delegación, filtros y variables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P2.2 · Lógica con Power Fx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vimos en la Sesión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Platform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Apps, Power Automate, Power BI, Copilot Studio y Power Pages, unidos por conectores.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Apps de lienzo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con controles; cada propiedad puede ser una fórmula.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Navegación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con transición, Back y pantallas ocultas.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crea versión; publicar la hace visible a los usuarios.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Orígenes de datos, conectores y SharePoint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conector y qué tipos hay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orígenes habituales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y sus listas como repositorio de información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columna y nombres internos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ORÍGENES DE DATOS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¿Dónde guardo los datos de mi app?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49040"/>
                <a:gridCol w="393192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Ventajas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en OneDrive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Rápido, conocido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usuario a la vez, sin seguridad por fila, lento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Estándar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de SharePoint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Permisos, versiones, colaboración, integración con Microsoft 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Delegación limitada; no para millones de filas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Estándar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Dataverse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Relaciones, seguridad por roles, lógica de negocio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Requiere licencia premium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Server / Azure SQL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volúmenes, sistemas existentes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Requiere licencia y a veces pasarela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Mucho más que carpetas compartidas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0408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documental: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bibliotecas con versiones, metadatos y flujos.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Intranet y comunicación: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sitios de equipo y de comunicación.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de datos compartidas con permisos, vistas y formularios.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y Power Automate están en el menú Integrar de cada lista.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55280" y="2097512"/>
            <a:ext cx="3657600" cy="3577377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sharepo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08" y="2207240"/>
            <a:ext cx="3438144" cy="33579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SHAREPOINT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listas como repositorio de información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577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lista es una tabla: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(elementos) y columnas tipadas.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crean en blanco, desde Excel o desde plantilla.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heredados del sitio: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propios de la lista.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versiones de cada elemento: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configurar nada.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2207739"/>
            <a:ext cx="5120640" cy="3356923"/>
          </a:xfrm>
          <a:prstGeom prst="roundRect">
            <a:avLst>
              <a:gd name="adj" fmla="val 3269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listas_s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2317467"/>
            <a:ext cx="4901184" cy="31374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columna y cómo se leen en Power Apps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Power Fx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línea de texto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(Motivo)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ThisItem.Title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y 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FechaInicio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Text(ThisItem.FechaInicio; "dd/mm/yyyy")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ThisItem.Dias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ThisItem.Estado.Value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ThisItem.Solicitante.DisplayName · .Email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Varias líneas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ThisItem.Comentarios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D2.1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lista de SharePoint a la app en cinco minutos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minutos · SharePoint y Power Apps Studio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una lista desde Excel o en blanco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&gt; Power Apps &gt; Crear una aplicación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Recorrer las tres pantallas generadas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Items de la galería e Item del formulario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elemento y verlo en la lista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498080" y="3288081"/>
            <a:ext cx="4114800" cy="1744879"/>
          </a:xfrm>
          <a:prstGeom prst="roundRect">
            <a:avLst>
              <a:gd name="adj" fmla="val 6289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sp_li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3397809"/>
            <a:ext cx="3895344" cy="152542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Galerías y formularios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Galería: Items, ThisItem y Selected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Formulario: DataSource, Item y modos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 formulario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sin formulario: Patch y Remove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Mostrar varios registros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que muestra la galería.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elemento se diseña y se repite en todos.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ThisItem: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fila actual dentro de la plantilla.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fila elegida por el usuario, visible desde otras pantallas.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Vertical, horizontal o flexible: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el contenido.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2036477"/>
            <a:ext cx="4206240" cy="3699445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galer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2146205"/>
            <a:ext cx="3986784" cy="347998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Ver, editar y crear registros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577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o tabla.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que muestra (galSolicitudes.Selected).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 de datos: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por columna, con su control adecuado.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Nuevo, Editar y Vista (DefaultMode).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2579894"/>
            <a:ext cx="5120640" cy="2612612"/>
          </a:xfrm>
          <a:prstGeom prst="roundRect">
            <a:avLst>
              <a:gd name="adj" fmla="val 420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formul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2689622"/>
            <a:ext cx="4901184" cy="23931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 FORMULARIO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 un formulario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NewForm / EditForm / ViewForm cambian el modo.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SubmitForm valida y guarda; ResetForm descarta.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OnSuccess y OnFailure reaccionan al resultado.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492240" cy="2560320"/>
          </a:xfrm>
          <a:prstGeom prst="roundRect">
            <a:avLst>
              <a:gd name="adj" fmla="val 2857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6126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Icono +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NewForm(frmSolicitud);; Navigate(scrForm)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Guardar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SubmitForm(frmSolicitud)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OnSuccess del formulario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Notify("Guardado"; NotificationType.Success);; Back()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984226"/>
            <a:ext cx="4206240" cy="1803947"/>
          </a:xfrm>
          <a:prstGeom prst="roundRect">
            <a:avLst>
              <a:gd name="adj" fmla="val 6083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modo_formular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3093954"/>
            <a:ext cx="3986784" cy="158449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FORMULARIO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Patch, Remove y Defaults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o modifica un registro desde cualquier control.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de registro nuevo con los valores predeterminados.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un registro.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10698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Crear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Patch('Solicitudes de vacaciones'; Defaults('Solicitudes de vacaciones');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Title: txtMotivo.Text; Dias: Value(txtDias.Text) })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Modificar la fila actual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Patch('Solicitudes de vacaciones'; ThisItem; { Estado: { Value: "Rechazada" } })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Eliminar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Remove('Solicitudes de vacaciones'; galSolicitudes.Selected)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D2.2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Galería y formulario construidos a mano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app en blanco en formato teléfono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la lista Solicitudes de vacaciones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 con ThisItem.Title, fechas y Tipo.Value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con formulario: DataSource e Item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NewForm, EditForm y navegación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SubmitForm con OnSuccess y Notify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desde un botón de la galería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durante un guardado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Errores que conviene enseñar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.Value en columnas de elección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sin enlazar a Selected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y no volver: falta Back()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P2.1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de solicitudes de vacaciones sobre Excel en OneDrive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minutos · Guía: SESION_2/PRACTICAS/P2.1 · Caso integrador del curso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el libro a OneDrive con la tabla Solicitudes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blanco conectada a la tabla de Excel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 filtrada por usuario y ordenada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Desplegable, selectores de fecha y solicitante automático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editar, eliminar y cancelar con Patch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y publicar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esperado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empleado ve solo sus solicitudes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cambios aparecen en el Excel de OneDrive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tras guardar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para las Sesiones 3 y 4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7427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6459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Descanso · 15 minutos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2062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vuelta: Power Fx, el lenguaje que da lógica a tus apps.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Fx: funciones, condicionales, variables y colecciones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Texto, números y fechas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If, Switch y With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globales y de contexto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Colecciones y tablas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Delegación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Excel, pero en la app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Fórmulas declarativas: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recalculan solas cuando cambian los datos.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para unir, Text para formatear, Substitute para reemplazar.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y fechas: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Value, Round, Today, DateAdd, DateDiff.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492240" cy="1463040"/>
          </a:xfrm>
          <a:prstGeom prst="roundRect">
            <a:avLst>
              <a:gd name="adj" fmla="val 5000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Text(Value(txtQty.Text) * Value(txtPrice.Text); "#.##0,00 €")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"Hola, " &amp; User().FullName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DateDiff(dteInicio.SelectedDate; dteFin.SelectedDate; TimeUnit.Days) + 1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DateAdd(Today(); 10; TimeUnit.Days)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655189"/>
            <a:ext cx="4206240" cy="2462022"/>
          </a:xfrm>
          <a:prstGeom prst="roundRect">
            <a:avLst>
              <a:gd name="adj" fmla="val 445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formulas_pizar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2764917"/>
            <a:ext cx="3986784" cy="224256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If, Switch y With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 varias condiciones con su resultado.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un valor con varias opciones.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nombre a un cálculo para no repetirlo.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10698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= If(total &gt; 50; Green; Blue)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Switch(ThisItem.Estado.Value;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"Aprobada"; Green;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"Rechazada"; Red;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RGBA(230; 150; 0; 1))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With({ total: Value(txtQty.Text) * Value(txtPrice.Text) };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If(total &gt;= 1000; "Dirección"; total &gt;= 100; "Responsable"; "Automática"))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Globales, de contexto y fórmulas con nombre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global, visible en toda la app.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UpdateContext: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de contexto, solo en su pantalla.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App.Formulas: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valor se calcula, mejor una fórmula con nombre.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492240" cy="1737360"/>
          </a:xfrm>
          <a:prstGeom prst="roundRect">
            <a:avLst>
              <a:gd name="adj" fmla="val 4211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6126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Set(gblUser; User().Email)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UpdateContext({ locTotal: locTotal + 1 })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App.Formulas (Sesión 3)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fxMaxDias = 22;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3296957"/>
            <a:ext cx="4206240" cy="1178486"/>
          </a:xfrm>
          <a:prstGeom prst="roundRect">
            <a:avLst>
              <a:gd name="adj" fmla="val 9311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varia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3406685"/>
            <a:ext cx="3986784" cy="9590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COLECCIONES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Tablas en memoria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ClearCollect: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vacía y rellena; Collect añade.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y Remove: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modifican y eliminan filas.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 en el dispositivo: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pierden al cerrar la app.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492240" cy="2011680"/>
          </a:xfrm>
          <a:prstGeom prst="roundRect">
            <a:avLst>
              <a:gd name="adj" fmla="val 3636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ClearCollect(colCities;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City: "Madrid"; Population: 3332000 };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City: "Lisboa"; Population: 545000 })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Filter(colCities; Population &gt;= sldPop.Value)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Remove(colCities; varCity)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845106"/>
            <a:ext cx="4206240" cy="2082189"/>
          </a:xfrm>
          <a:prstGeom prst="roundRect">
            <a:avLst>
              <a:gd name="adj" fmla="val 527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colec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2954834"/>
            <a:ext cx="3986784" cy="18627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Delegación: quién filtra los datos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8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significa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servidor (SharePoint) filtra y devuelve solo lo necesario. Escala a listas grandes.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delegable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Apps descarga los primeros 500 registros (hasta 2.000) y filtra en local. Puedes no ver todo.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Triángulo amarillo y subrayado azul en la fórmula.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Delegables con SharePoint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con =, &lt;, &gt;, StartsWith, And/Or, SortByColumns, LookUp.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delegables con SharePoint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Search, in, Len, operaciones sobre columnas calculadas.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D2.3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Delegación, filtros y variables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sobre la app de la demo D2.2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sobre SharePoint y el aviso de delegación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500 y dónde se cambia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Sustituir por Filter con StartsWith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 UpdateContext con un contador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Variables y colecciones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ClearCollect en OnVisible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práctica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en la lista: filtra en la lista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temporal: colección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calculado: fórmula con nombre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P2.2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Lógica de negocio con Power Fx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minutos · Guía: SESION_2/PRACTICAS/P2.2 · App nueva e independiente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de presupuesto con formato en euros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condicional con If y tramos con Switch y With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Acumulado con variable de contexto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global y panel de variables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Colección de ciudades con filtros y orden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LookUp, Patch, Collect y Remove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Atención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Value() al multiplicar cuadros de texto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y ;; con navegador en español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OnVisible en modo edición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se muestra el texto de una columna de elección de SharePoint?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ThisItem.Estado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ThisItem.Estado.Value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Text(ThisItem.Estado)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ThisItem.Estado.Text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Quieres un contador que solo usa una pantalla. ¿Qué empleas?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colección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UpdateContext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columna de SharePoint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te llevas hoy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659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es un repositorio sólido para apps departamentales; cuida los tipos y nombres de columna.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26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 para leer, formulario o Patch para escribir, y siempre pensando en la delegación.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93192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886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Fx: If, Switch, variables y colecciones para dar lógica a la app.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257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avanzados, validación, componentes e integración con Microsoft 365 y Power BI.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PREGUNTAS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empezar, de la Sesión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12064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¿Guardar o publicar?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compañera dice que ha guardado la app pero sus usuarios siguen viendo la versión antigua. ¿Qué le falta?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92240" y="2148840"/>
            <a:ext cx="512064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¿Navigate o Back?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7947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Quieres volver a la pantalla anterior sin saber cuál era. ¿Qué función usas y qué pasa con la transición?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Curso Power Apps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2 · Orígenes de datos y lógica</dc:title>
  <dc:subject>PptxGenJS Presentation</dc:subject>
  <dc:creator>Jorge</dc:creator>
  <cp:lastModifiedBy>Jorge</cp:lastModifiedBy>
  <cp:revision>1</cp:revision>
  <dcterms:created xsi:type="dcterms:W3CDTF">2026-09-22T06:35:23Z</dcterms:created>
  <dcterms:modified xsi:type="dcterms:W3CDTF">2026-09-22T06:35:23Z</dcterms:modified>
</cp:coreProperties>
</file>