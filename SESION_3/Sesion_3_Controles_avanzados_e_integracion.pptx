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81" r:id="rId32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  <Relationship Id="rId32" Type="http://schemas.openxmlformats.org/officeDocument/2006/relationships/slide" Target="slides/slide26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§5.1.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Menciona también cámara, código de barras, adjuntos, lápiz y la tabla de datos moderna (GA en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§5.3.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§5.4.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§5.5. Rescate: ContosoCoffee_1_0_0_1.zip.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Usaremos Sales Analysis.pbix de la carpeta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§5.6.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§5.7.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correcta: B.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correcta: C.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Respuestas. 1) Una columna de elección devuelve un registro con Value y Id, no un texto; el texto está en .Value. Lo mismo pasa con las columnas de persona, que devuelven un registro con DisplayName y Email. 2) Si la fórmula no es delegable, Power Apps solo trae los primeros 500 registros (2.000 como máximo) y filtra en local: se cambia Search por Filter con StartsWith, que sí delega. Preguntar a dos alumnos distintos y no alargarlo más de cinco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0"/>
            <a:ext cx="5242255" cy="6858000"/>
          </a:xfrm>
          <a:prstGeom prst="rect">
            <a:avLst/>
          </a:prstGeom>
          <a:solidFill>
            <a:srgbClr val="742774"/>
          </a:solidFill>
          <a:ln/>
        </p:spPr>
      </p:sp>
      <p:sp>
        <p:nvSpPr>
          <p:cNvPr id="3" name="Shape 1"/>
          <p:cNvSpPr/>
          <p:nvPr/>
        </p:nvSpPr>
        <p:spPr>
          <a:xfrm>
            <a:off x="7269480" y="2100560"/>
            <a:ext cx="4572000" cy="2656881"/>
          </a:xfrm>
          <a:prstGeom prst="roundRect">
            <a:avLst>
              <a:gd name="adj" fmla="val 4130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4" name="Image 0" descr="/home/claude/assets/lab_compare_sc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9208" y="2210288"/>
            <a:ext cx="4352544" cy="243742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9144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4173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9C6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3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011680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Controles avanzados, integración y experiencia de usuario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34340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reutilizables, validación y control de errores, buenas prácticas, y conexión con Microsoft 365 y Power BI.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98932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horas · 3 demos guiadas · 2 prácticas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DE LA SESIÓN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una app que funciona a una app que se usa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680960"/>
                <a:gridCol w="146304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Repaso de la Sesión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Teoría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 A · Controles avanzados y componentes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Teoría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D3.1 · Componentes y fórmulas con nombre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427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 B · Validación, errores, usabilidad y buenas prácticas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Teoría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D3.2 · Validación, errores y Monitor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427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P3.1 · Controles avanzados y validación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A6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Práctica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2:10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Descanso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2:25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 C · Integración con Microsoft 365 y Power BI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Teoría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2:45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D3.3 · Power BI en Power Apps y Power Apps en Power BI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74277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3:00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P3.2 · Integración con Microsoft 365 y Power BI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A6B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Práctica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3:50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Cierre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vimos en la Sesión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SharePoint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 como repositorio: columnas de elección con .Value y de persona.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38328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5760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Leer y escribir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Galería para mostrar, formulario o Patch para guardar.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1792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9224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Fx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If, Switch, With, variables y colecciones.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05256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2688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2688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Delegación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filtre el servidor: Filter y StartsWith sí, Search no.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737360"/>
            <a:ext cx="2377440" cy="2377440"/>
          </a:xfrm>
          <a:prstGeom prst="ellipse">
            <a:avLst/>
          </a:prstGeom>
          <a:solidFill>
            <a:srgbClr val="742774"/>
          </a:solidFill>
          <a:ln w="25400">
            <a:solidFill>
              <a:srgbClr val="B98BC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73736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657600" y="164592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Controles avanzados y componentes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108960"/>
            <a:ext cx="7680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Galerías enlazadas y selección múltiple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de datos, multimedia y gráficos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tabla de datos moderna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y bibliotecas de componentes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GALERÍAS AVANZADAS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galería filtra a otra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0292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Galerías enlazadas: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= Filter(Machines; Tipo = galTypes.Selected.Id).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Controles dentro de la plantilla: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casillas, iconos, botones.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múltiple: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casilla añade o quita de una colección.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IsSelected: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resaltar la fila elegida.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0" y="2245283"/>
            <a:ext cx="5669280" cy="3281834"/>
          </a:xfrm>
          <a:prstGeom prst="roundRect">
            <a:avLst>
              <a:gd name="adj" fmla="val 3343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/home/claude/assets/lab_galeria_casil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53328" y="2355011"/>
            <a:ext cx="5449824" cy="306237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CONTROLES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Datos, multimedia y visualización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16980"/>
            <a:ext cx="3505200" cy="4418400"/>
          </a:xfrm>
          <a:prstGeom prst="roundRect">
            <a:avLst>
              <a:gd name="adj" fmla="val 3130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/home/claude/assets/componentes_formul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590132"/>
            <a:ext cx="3358896" cy="42720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961888"/>
            <a:ext cx="350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Formularios y tarjetas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328160" y="3204392"/>
            <a:ext cx="3505200" cy="1043576"/>
          </a:xfrm>
          <a:prstGeom prst="roundRect">
            <a:avLst>
              <a:gd name="adj" fmla="val 10515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/home/claude/assets/icono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1312" y="3277544"/>
            <a:ext cx="3358896" cy="8972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28160" y="5961888"/>
            <a:ext cx="350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Iconos y formas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107680" y="2858038"/>
            <a:ext cx="3505200" cy="1736284"/>
          </a:xfrm>
          <a:prstGeom prst="roundRect">
            <a:avLst>
              <a:gd name="adj" fmla="val 6320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1" name="Image 2" descr="/home/claude/assets/pbi_grafico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0832" y="2931190"/>
            <a:ext cx="3358896" cy="15899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07680" y="5961888"/>
            <a:ext cx="350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Gráficos nativos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Diseña una vez, úsalo en todas partes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Propiedades de entrada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cambia en cada uso: el título, un color, si se ve el botón atrás.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38328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5760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Propiedades de salida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componente devuelve a la pantalla: un valor elegido, un estado.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1792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9224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⚡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comportamiento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que decide la pantalla: OnBack, OnSave.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052560" y="2148840"/>
            <a:ext cx="256032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2688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32688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LIB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31089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Bibliotecas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7947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Comparte componentes entre apps; al actualizarlos, las apps te avisan.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74277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D3.1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Componentes y fórmulas con nombre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minutos · app Machine Ordering de demostración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cmpHeader en la pestaña Componentes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Propiedad de entrada Title y de comportamiento OnBack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Insertarlo en dos pantallas con valores distintos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el color en el componente y ver el efecto global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App.Formulas: fxMaxQty y fxUserName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mejor que Set en App.OnStart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definidas por el usuario, si están disponibles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223760" y="2103120"/>
            <a:ext cx="438912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52360" y="2286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427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Mensaje clave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52360" y="27432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cambio, todas las pantallas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Fórmulas con nombre: siempre actualizadas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variables, menos errores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737360"/>
            <a:ext cx="2377440" cy="2377440"/>
          </a:xfrm>
          <a:prstGeom prst="ellipse">
            <a:avLst/>
          </a:prstGeom>
          <a:solidFill>
            <a:srgbClr val="742774"/>
          </a:solidFill>
          <a:ln w="25400">
            <a:solidFill>
              <a:srgbClr val="B98BC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73736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657600" y="164592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Validación, errores, usabilidad y buenas prácticas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108960"/>
            <a:ext cx="7680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en tres niveles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 errores con IfError y Notify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Comprobador de aplicaciones y Monitor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 de diseño y desarrollo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Validar en tres niveles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505200" cy="3383280"/>
          </a:xfrm>
          <a:prstGeom prst="roundRect">
            <a:avLst>
              <a:gd name="adj" fmla="val 3243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08960"/>
            <a:ext cx="295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control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9476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número o fecha, campo obligatorio, longitud máxima. Evita el error antes de que ocurra.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28160" y="2148840"/>
            <a:ext cx="3505200" cy="3383280"/>
          </a:xfrm>
          <a:prstGeom prst="roundRect">
            <a:avLst>
              <a:gd name="adj" fmla="val 3243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248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0248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02480" y="3108960"/>
            <a:ext cx="295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regla de negocio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02480" y="379476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IsBlank, IsMatch, IsNumeric y comparaciones. Mensaje por campo y botón deshabilitado.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07680" y="2148840"/>
            <a:ext cx="3505200" cy="3383280"/>
          </a:xfrm>
          <a:prstGeom prst="roundRect">
            <a:avLst>
              <a:gd name="adj" fmla="val 3243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8200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8200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382000" y="3108960"/>
            <a:ext cx="295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origen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382000" y="3794760"/>
            <a:ext cx="295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obligatorias y validaciones de SharePoint o Dataverse. La última barrera.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EN POWER FX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Mensajes por campo y botón que se habilita solo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IsMatch con patrones predefinidos: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Match.Email, Match.Digit…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ValidationState: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 rojo en controles modernos.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nombre a cada regla.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1064240" cy="2011680"/>
          </a:xfrm>
          <a:prstGeom prst="roundRect">
            <a:avLst>
              <a:gd name="adj" fmla="val 3636"/>
            </a:avLst>
          </a:prstGeom>
          <a:solidFill>
            <a:srgbClr val="1F1A24"/>
          </a:solidFill>
          <a:ln w="12700">
            <a:solidFill>
              <a:srgbClr val="1F1A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10896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lblErrEmail.Visible = !IsBlank(txtEmail.Text) &amp;&amp; !IsMatch(txtEmail.Text; Match.Email)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btnSend.DisplayMode = With(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qtyOk: Value(txtQty.Text) &gt;= 1 &amp;&amp; Value(txtQty.Text) &lt;= fxMaxQty;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emailOk: IsMatch(txtEmail.Text; Match.Email) };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If(qtyOk &amp;&amp; emailOk; DisplayMode.Edit; DisplayMode.Disabled))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ERRORES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un fallo no rompa la app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IfError: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el error y ofrece una alternativa.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FirstError y Errors():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del error y errores de un origen.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Notify: </a:t>
            </a:r>
            <a:r>
              <a:rPr lang="en-US" sz="15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 claro al usuario, con su tipo.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1F1A24"/>
          </a:solidFill>
          <a:ln w="12700">
            <a:solidFill>
              <a:srgbClr val="1F1A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108960"/>
            <a:ext cx="10698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IfError(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Patch('Pedidos máquinas'; Defaults('Pedidos máquinas'); { Title: ... });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Notify("No se ha guardado: " &amp; FirstError.Message; NotificationType.Error);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Notify("Pedido registrado"; NotificationType.Success)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ED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BUENAS PRÁCTICAS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Diseño y desarrollo que escalan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Práctica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qué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Nombres con prefijo (scr, gal, btn, txt)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Fórmulas legibles y mantenimiento sencillo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App.Formulas en lugar de App.OnStart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Arranque más rápido y valores siempre actualizados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Funciones delegables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app funciona igual con 50 o con 50.000 registros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Concurrent para cargas iniciales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Varias consultas en paralelo reducen la espera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Contenedores y Parent.Width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Diseño adaptable a teléfono, tableta y escritorio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Componentes y temas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Consistencia visual con un único punto de cambio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Comprobador de aplicaciones y Monitor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Accesibilidad, rendimiento y diagnóstico de errores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74277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D3.2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Validación, errores y Monitor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minutos · formulario de pedido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Etiqueta de error con IsMatch y Match.Email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ValidationState en un control moderno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con DisplayMode y With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Provocar un error con una columna obligatoria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Envolver el Patch en IfError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Monitor: localizar la llamada fallida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Comprobador de aplicaciones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Opcional: Concurrent y comparar tiempos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223760" y="2103120"/>
            <a:ext cx="438912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52360" y="2286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427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deben observar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52360" y="27432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IfError: mensaje rojo genérico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IfError: mensaje comprensible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enseña la respuesta real del servidor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8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P3.1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Controles avanzados, componentes, validación y errores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minutos · Guía: SESION_3/PRACTICAS/P3.1 · Continúa la app de la P1.2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583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Importar Machine-Order-Data.xlsx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Galerías enlazadas por tipo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Casillas que llenan la colección colCompare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de comparación con la más barata resaltada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 cmpHeader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por campo y control de errores con IfError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498080" y="2891875"/>
            <a:ext cx="4114800" cy="2537289"/>
          </a:xfrm>
          <a:prstGeom prst="roundRect">
            <a:avLst>
              <a:gd name="adj" fmla="val 4325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0" descr="/home/claude/assets/lab_machine_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08" y="3001603"/>
            <a:ext cx="3895344" cy="231783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74277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64592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Descanso · 15 minutos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420624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AD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 vuelta: conectamos la app con Microsoft 365, Teams y Power BI.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737360"/>
            <a:ext cx="2377440" cy="2377440"/>
          </a:xfrm>
          <a:prstGeom prst="ellipse">
            <a:avLst/>
          </a:prstGeom>
          <a:solidFill>
            <a:srgbClr val="742774"/>
          </a:solidFill>
          <a:ln w="25400">
            <a:solidFill>
              <a:srgbClr val="B98BC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73736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3657600" y="164592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Integración con Microsoft 365 y Power BI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3108960"/>
            <a:ext cx="7680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de Office 365, Outlook y Teams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dentro de Power Apps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Apps dentro de Power BI</a:t>
            </a:r>
            <a:endParaRPr lang="en-US" sz="17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4D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Escenarios típicos de integración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365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Conectores que aparecen en casi todas las apps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657600"/>
                <a:gridCol w="4572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Conector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qué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Ejemplo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277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Usuarios de Office 365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Directorio: perfil, foto, responsable, búsqueda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Office365Users.ManagerV2(User().Email)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Office 365 Outlook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Enviar correo, eventos de calendario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Office365Outlook.SendEmailV2(...)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Teams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Publicar la app, enviar mensajes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Agregar a Teams desde el portal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SharePoint y OneDrive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 y documentos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Listas, bibliotecas y archivos Excel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1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Aprobaciones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Procesos de aprobación (Sesión 4)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B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Desde Power Automate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DD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direcciones de integración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55778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en Power Apps: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Icono de Power BI para ver indicadores dentro de la app.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Apps en Power BI: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 visual Power Apps para actuar desde el informe sobre los datos filtrados.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Seguridad: </a:t>
            </a: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usuario ve lo que su licencia y permisos de Power BI le permiten.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92240" y="2103886"/>
            <a:ext cx="5120640" cy="3564628"/>
          </a:xfrm>
          <a:prstGeom prst="roundRect">
            <a:avLst>
              <a:gd name="adj" fmla="val 3078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/home/claude/assets/pbi_infor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1968" y="2213614"/>
            <a:ext cx="4901184" cy="33451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informe al panel y del panel a la app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711125"/>
            <a:ext cx="3505200" cy="203011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/home/claude/assets/pbi_desk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2784277"/>
            <a:ext cx="3358896" cy="188380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961888"/>
            <a:ext cx="350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Informe en Power BI Desktop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328160" y="2376648"/>
            <a:ext cx="3505200" cy="2699065"/>
          </a:xfrm>
          <a:prstGeom prst="roundRect">
            <a:avLst>
              <a:gd name="adj" fmla="val 4065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/home/claude/assets/pbi_servic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1312" y="2449800"/>
            <a:ext cx="3358896" cy="255276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28160" y="5961888"/>
            <a:ext cx="350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Publicado en el servicio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107680" y="1973580"/>
            <a:ext cx="3505200" cy="3505200"/>
          </a:xfrm>
          <a:prstGeom prst="roundRect">
            <a:avLst>
              <a:gd name="adj" fmla="val 3130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pic>
        <p:nvPicPr>
          <p:cNvPr id="11" name="Image 2" descr="/home/claude/assets/powerbi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0832" y="2046732"/>
            <a:ext cx="3358896" cy="3358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07680" y="5961888"/>
            <a:ext cx="350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Icono anclado en la app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3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74277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D3.3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BI en Power Apps y Power Apps en Power BI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minutos · Sales Analysis.pbix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Anclar un visual del informe a un panel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Insertar el control Icono de Power BI en la app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área de trabajo, panel e icono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Insertar el objeto visual Power Apps en Power BI Desktop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 dos columnas y crear una app nueva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 el informe y ver la galería de la app cambiar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223760" y="2103120"/>
            <a:ext cx="438912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52360" y="2286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4277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Mensaje clave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52360" y="27432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Icono: ver indicadores en la app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 visual: actuar desde el informe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permisos de Power BI se respetan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8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1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P3.2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601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Integración con Microsoft 365 y Power BI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minutos · Guía: SESION_3/PRACTICAS/P3.2 · Sobre la app de la P2.1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y responsable con Usuarios de Office 365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Aprobador rellenado automáticamente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Correo de confirmación con Outlook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Icono de Power BI en una pantalla nueva</a:t>
            </a:r>
            <a:endParaRPr lang="en-US" sz="14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la app en Teams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223760" y="2103120"/>
            <a:ext cx="438912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6DDE9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52360" y="2286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6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Imprescindible para la Sesión 4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52360" y="274320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Parte 2 rellena el aprobador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aprobador no hay flujo de aprobación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Alternativa: cuadro combinado de personas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 LO APRENDIDO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¿Dónde defines un valor que se calcula y usas en varias pantallas?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1854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1854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574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App.OnStart con Set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0998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0998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9718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App.Formulas como fórmula con nombre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0142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40142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8862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colección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800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9286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9286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OnVisible de cada pantalla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COMPRUEBA LO APRENDIDO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Quieres que el usuario actúe sobre los datos que filtra en un informe. ¿Qué usas?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1854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1854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574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control Icono de Power BI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0998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0998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9718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gráfico nativo de Power Apps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0142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40142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8862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objeto visual Power Apps dentro de Power BI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800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928616"/>
            <a:ext cx="521208" cy="52120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928616"/>
            <a:ext cx="521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Exportar a Excel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E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te llevas hoy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640080" cy="640080"/>
          </a:xfrm>
          <a:prstGeom prst="ellipse">
            <a:avLst/>
          </a:prstGeom>
          <a:solidFill>
            <a:srgbClr val="742774"/>
          </a:solidFill>
          <a:ln w="19050">
            <a:solidFill>
              <a:srgbClr val="B98B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96596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F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y fórmulas con nombre para apps consistentes y fáciles de mantener.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640080" cy="640080"/>
          </a:xfrm>
          <a:prstGeom prst="ellipse">
            <a:avLst/>
          </a:prstGeom>
          <a:solidFill>
            <a:srgbClr val="742774"/>
          </a:solidFill>
          <a:ln w="19050">
            <a:solidFill>
              <a:srgbClr val="B98BC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92608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F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en tres niveles y gestionar los errores con IfError y Notify.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3931920"/>
            <a:ext cx="640080" cy="640080"/>
          </a:xfrm>
          <a:prstGeom prst="ellipse">
            <a:avLst/>
          </a:prstGeom>
          <a:solidFill>
            <a:srgbClr val="742774"/>
          </a:solidFill>
          <a:ln w="19050">
            <a:solidFill>
              <a:srgbClr val="B98B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931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88620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F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365 y Power BI convierten una app aislada en parte del día a día.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5257800"/>
            <a:ext cx="10881360" cy="822960"/>
          </a:xfrm>
          <a:prstGeom prst="roundRect">
            <a:avLst>
              <a:gd name="adj" fmla="val 13333"/>
            </a:avLst>
          </a:prstGeom>
          <a:solidFill>
            <a:srgbClr val="74277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5257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 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Automate, aprobaciones, publicación, permisos y mantenimiento.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DB8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427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PREGUNTAS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empezar, de la Sesión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12064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089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.Value?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79476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galería pusiste ThisItem.Estado y aparecía un error. ¿Por qué hay que escribir ThisItem.Estado.Value?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92240" y="2148840"/>
            <a:ext cx="5120640" cy="3383280"/>
          </a:xfrm>
          <a:prstGeom prst="roundRect">
            <a:avLst>
              <a:gd name="adj" fmla="val 4286"/>
            </a:avLst>
          </a:prstGeom>
          <a:solidFill>
            <a:srgbClr val="F7F3F8"/>
          </a:solidFill>
          <a:ln w="9525">
            <a:solidFill>
              <a:srgbClr val="E6DD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6560" y="2423160"/>
            <a:ext cx="566928" cy="566928"/>
          </a:xfrm>
          <a:prstGeom prst="ellipse">
            <a:avLst/>
          </a:prstGeom>
          <a:solidFill>
            <a:srgbClr val="74277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76656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31089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1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es la delegación?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379476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galería filtra sobre 3.000 registros y solo ves unos cuantos. ¿Qué está pasando y qué función cambiarías?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Power Apps · Sesión 3 · Controles avanzados, integración y experiencia de usuario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185855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Curso Power Apps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3 · Controles avanzados e integración</dc:title>
  <dc:subject>PptxGenJS Presentation</dc:subject>
  <dc:creator>Jorge</dc:creator>
  <cp:lastModifiedBy>Jorge</cp:lastModifiedBy>
  <cp:revision>1</cp:revision>
  <dcterms:created xsi:type="dcterms:W3CDTF">2026-09-22T06:35:24Z</dcterms:created>
  <dcterms:modified xsi:type="dcterms:W3CDTF">2026-09-22T06:35:24Z</dcterms:modified>
</cp:coreProperties>
</file>